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5"/>
  </p:notesMasterIdLst>
  <p:sldIdLst>
    <p:sldId id="256" r:id="rId2"/>
    <p:sldId id="257" r:id="rId3"/>
    <p:sldId id="542" r:id="rId4"/>
    <p:sldId id="484" r:id="rId5"/>
    <p:sldId id="485" r:id="rId6"/>
    <p:sldId id="258" r:id="rId7"/>
    <p:sldId id="537" r:id="rId8"/>
    <p:sldId id="261" r:id="rId9"/>
    <p:sldId id="517" r:id="rId10"/>
    <p:sldId id="262" r:id="rId11"/>
    <p:sldId id="269" r:id="rId12"/>
    <p:sldId id="263" r:id="rId13"/>
    <p:sldId id="271" r:id="rId14"/>
    <p:sldId id="264" r:id="rId15"/>
    <p:sldId id="268" r:id="rId16"/>
    <p:sldId id="512" r:id="rId17"/>
    <p:sldId id="259" r:id="rId18"/>
    <p:sldId id="260" r:id="rId19"/>
    <p:sldId id="513" r:id="rId20"/>
    <p:sldId id="514" r:id="rId21"/>
    <p:sldId id="267" r:id="rId22"/>
    <p:sldId id="266" r:id="rId23"/>
    <p:sldId id="265" r:id="rId24"/>
    <p:sldId id="515" r:id="rId25"/>
    <p:sldId id="516" r:id="rId26"/>
    <p:sldId id="426" r:id="rId27"/>
    <p:sldId id="495" r:id="rId28"/>
    <p:sldId id="486" r:id="rId29"/>
    <p:sldId id="499" r:id="rId30"/>
    <p:sldId id="289" r:id="rId31"/>
    <p:sldId id="367" r:id="rId32"/>
    <p:sldId id="508" r:id="rId33"/>
    <p:sldId id="509" r:id="rId34"/>
    <p:sldId id="510" r:id="rId35"/>
    <p:sldId id="511" r:id="rId36"/>
    <p:sldId id="483" r:id="rId37"/>
    <p:sldId id="428" r:id="rId38"/>
    <p:sldId id="538" r:id="rId39"/>
    <p:sldId id="539" r:id="rId40"/>
    <p:sldId id="430" r:id="rId41"/>
    <p:sldId id="318" r:id="rId42"/>
    <p:sldId id="317" r:id="rId43"/>
    <p:sldId id="319" r:id="rId44"/>
    <p:sldId id="320" r:id="rId45"/>
    <p:sldId id="482" r:id="rId46"/>
    <p:sldId id="322" r:id="rId47"/>
    <p:sldId id="323" r:id="rId48"/>
    <p:sldId id="324" r:id="rId49"/>
    <p:sldId id="325" r:id="rId50"/>
    <p:sldId id="326" r:id="rId51"/>
    <p:sldId id="327" r:id="rId52"/>
    <p:sldId id="328" r:id="rId53"/>
    <p:sldId id="395" r:id="rId54"/>
    <p:sldId id="397" r:id="rId55"/>
    <p:sldId id="396" r:id="rId56"/>
    <p:sldId id="399" r:id="rId57"/>
    <p:sldId id="400" r:id="rId58"/>
    <p:sldId id="401" r:id="rId59"/>
    <p:sldId id="402" r:id="rId60"/>
    <p:sldId id="497" r:id="rId61"/>
    <p:sldId id="534" r:id="rId62"/>
    <p:sldId id="519" r:id="rId63"/>
    <p:sldId id="518" r:id="rId64"/>
    <p:sldId id="535" r:id="rId65"/>
    <p:sldId id="536" r:id="rId66"/>
    <p:sldId id="523" r:id="rId67"/>
    <p:sldId id="524" r:id="rId68"/>
    <p:sldId id="526" r:id="rId69"/>
    <p:sldId id="531" r:id="rId70"/>
    <p:sldId id="274" r:id="rId71"/>
    <p:sldId id="541" r:id="rId72"/>
    <p:sldId id="540" r:id="rId73"/>
    <p:sldId id="543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4E7757-0745-42AA-881B-D5C946F39E73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FC8DD9EF-1445-40E0-9097-74B65DED80E0}">
      <dgm:prSet/>
      <dgm:spPr/>
      <dgm:t>
        <a:bodyPr/>
        <a:lstStyle/>
        <a:p>
          <a:r>
            <a:rPr lang="en-US"/>
            <a:t>class User(Base):</a:t>
          </a:r>
        </a:p>
      </dgm:t>
    </dgm:pt>
    <dgm:pt modelId="{8C21094A-FD73-447D-8CB7-E9FA18185C18}" type="parTrans" cxnId="{A4F3C130-3DAE-4802-A329-C6BF03E56518}">
      <dgm:prSet/>
      <dgm:spPr/>
      <dgm:t>
        <a:bodyPr/>
        <a:lstStyle/>
        <a:p>
          <a:endParaRPr lang="en-US"/>
        </a:p>
      </dgm:t>
    </dgm:pt>
    <dgm:pt modelId="{0312D139-971E-482D-8E17-3607D11B147D}" type="sibTrans" cxnId="{A4F3C130-3DAE-4802-A329-C6BF03E56518}">
      <dgm:prSet/>
      <dgm:spPr/>
      <dgm:t>
        <a:bodyPr/>
        <a:lstStyle/>
        <a:p>
          <a:endParaRPr lang="en-US"/>
        </a:p>
      </dgm:t>
    </dgm:pt>
    <dgm:pt modelId="{8EC8B5E6-396D-4B50-ADDD-1F4B3D4C9AF6}">
      <dgm:prSet/>
      <dgm:spPr/>
      <dgm:t>
        <a:bodyPr/>
        <a:lstStyle/>
        <a:p>
          <a:r>
            <a:rPr lang="en-US"/>
            <a:t>__tablename__ = 'users'</a:t>
          </a:r>
        </a:p>
      </dgm:t>
    </dgm:pt>
    <dgm:pt modelId="{CBF4ACB9-2C4D-433B-9BB6-0163B9F473B8}" type="parTrans" cxnId="{F92F7E8D-3A06-4FFE-8C80-669EE37AF66C}">
      <dgm:prSet/>
      <dgm:spPr/>
      <dgm:t>
        <a:bodyPr/>
        <a:lstStyle/>
        <a:p>
          <a:endParaRPr lang="en-US"/>
        </a:p>
      </dgm:t>
    </dgm:pt>
    <dgm:pt modelId="{3AF822B2-E5FA-40DD-AF27-9AC7FF50DD5C}" type="sibTrans" cxnId="{F92F7E8D-3A06-4FFE-8C80-669EE37AF66C}">
      <dgm:prSet/>
      <dgm:spPr/>
      <dgm:t>
        <a:bodyPr/>
        <a:lstStyle/>
        <a:p>
          <a:endParaRPr lang="en-US"/>
        </a:p>
      </dgm:t>
    </dgm:pt>
    <dgm:pt modelId="{C4D2475E-0F1B-49EB-A901-93192AFF29E3}">
      <dgm:prSet/>
      <dgm:spPr/>
      <dgm:t>
        <a:bodyPr/>
        <a:lstStyle/>
        <a:p>
          <a:r>
            <a:rPr lang="en-US"/>
            <a:t>id = Column(Integer, primary_key=True)</a:t>
          </a:r>
        </a:p>
      </dgm:t>
    </dgm:pt>
    <dgm:pt modelId="{F532D424-4300-45E6-8003-407E5307B99C}" type="parTrans" cxnId="{A0483627-2310-478E-9752-036D1F2E15BC}">
      <dgm:prSet/>
      <dgm:spPr/>
      <dgm:t>
        <a:bodyPr/>
        <a:lstStyle/>
        <a:p>
          <a:endParaRPr lang="en-US"/>
        </a:p>
      </dgm:t>
    </dgm:pt>
    <dgm:pt modelId="{A86BEAFB-F56E-4BAF-9E7B-908D365B169A}" type="sibTrans" cxnId="{A0483627-2310-478E-9752-036D1F2E15BC}">
      <dgm:prSet/>
      <dgm:spPr/>
      <dgm:t>
        <a:bodyPr/>
        <a:lstStyle/>
        <a:p>
          <a:endParaRPr lang="en-US"/>
        </a:p>
      </dgm:t>
    </dgm:pt>
    <dgm:pt modelId="{C6A6B4E9-E74B-4C0A-A3CE-F686F17662A4}">
      <dgm:prSet/>
      <dgm:spPr/>
      <dgm:t>
        <a:bodyPr/>
        <a:lstStyle/>
        <a:p>
          <a:r>
            <a:rPr lang="en-US"/>
            <a:t>name = Column(String)</a:t>
          </a:r>
        </a:p>
      </dgm:t>
    </dgm:pt>
    <dgm:pt modelId="{09E8C8D6-2D7E-436A-8960-9B681291A792}" type="parTrans" cxnId="{C41CD1E7-E0F5-4179-87EB-44AEE912A212}">
      <dgm:prSet/>
      <dgm:spPr/>
      <dgm:t>
        <a:bodyPr/>
        <a:lstStyle/>
        <a:p>
          <a:endParaRPr lang="en-US"/>
        </a:p>
      </dgm:t>
    </dgm:pt>
    <dgm:pt modelId="{FCF22B95-948A-45F8-A29A-8F70878D021A}" type="sibTrans" cxnId="{C41CD1E7-E0F5-4179-87EB-44AEE912A212}">
      <dgm:prSet/>
      <dgm:spPr/>
      <dgm:t>
        <a:bodyPr/>
        <a:lstStyle/>
        <a:p>
          <a:endParaRPr lang="en-US"/>
        </a:p>
      </dgm:t>
    </dgm:pt>
    <dgm:pt modelId="{9798B4DA-A693-4F39-9E37-8C68AC2BC22E}">
      <dgm:prSet/>
      <dgm:spPr/>
      <dgm:t>
        <a:bodyPr/>
        <a:lstStyle/>
        <a:p>
          <a:r>
            <a:rPr lang="en-US"/>
            <a:t>age = Column(Integer)</a:t>
          </a:r>
        </a:p>
      </dgm:t>
    </dgm:pt>
    <dgm:pt modelId="{2F0AA5F9-6849-4748-AC2D-AEDD2BF9601A}" type="parTrans" cxnId="{4EBA3AEE-3F92-49B9-8C92-B76B5E2C3C72}">
      <dgm:prSet/>
      <dgm:spPr/>
      <dgm:t>
        <a:bodyPr/>
        <a:lstStyle/>
        <a:p>
          <a:endParaRPr lang="en-US"/>
        </a:p>
      </dgm:t>
    </dgm:pt>
    <dgm:pt modelId="{A69F81B0-BD72-4F78-A91E-A7BF9DBAFD93}" type="sibTrans" cxnId="{4EBA3AEE-3F92-49B9-8C92-B76B5E2C3C72}">
      <dgm:prSet/>
      <dgm:spPr/>
      <dgm:t>
        <a:bodyPr/>
        <a:lstStyle/>
        <a:p>
          <a:endParaRPr lang="en-US"/>
        </a:p>
      </dgm:t>
    </dgm:pt>
    <dgm:pt modelId="{C6F73E9B-24AC-4FF7-8A23-49F34B7C456C}">
      <dgm:prSet/>
      <dgm:spPr/>
      <dgm:t>
        <a:bodyPr/>
        <a:lstStyle/>
        <a:p>
          <a:r>
            <a:rPr lang="en-US"/>
            <a:t>gender = Column(String)</a:t>
          </a:r>
        </a:p>
      </dgm:t>
    </dgm:pt>
    <dgm:pt modelId="{03FB4B33-2ACB-4AC2-A49E-B2D8B3EEA9CC}" type="parTrans" cxnId="{9C7DCD58-AAF1-49AE-AB1A-47F4EBDA1F20}">
      <dgm:prSet/>
      <dgm:spPr/>
      <dgm:t>
        <a:bodyPr/>
        <a:lstStyle/>
        <a:p>
          <a:endParaRPr lang="en-US"/>
        </a:p>
      </dgm:t>
    </dgm:pt>
    <dgm:pt modelId="{2148B66E-81BE-4E1A-B1E2-69C1EB977C3C}" type="sibTrans" cxnId="{9C7DCD58-AAF1-49AE-AB1A-47F4EBDA1F20}">
      <dgm:prSet/>
      <dgm:spPr/>
      <dgm:t>
        <a:bodyPr/>
        <a:lstStyle/>
        <a:p>
          <a:endParaRPr lang="en-US"/>
        </a:p>
      </dgm:t>
    </dgm:pt>
    <dgm:pt modelId="{33DA054D-24CC-4FD0-BE39-F98EC6CD7C69}">
      <dgm:prSet/>
      <dgm:spPr/>
      <dgm:t>
        <a:bodyPr/>
        <a:lstStyle/>
        <a:p>
          <a:r>
            <a:rPr lang="en-US"/>
            <a:t>nationality = Column(String)</a:t>
          </a:r>
        </a:p>
      </dgm:t>
    </dgm:pt>
    <dgm:pt modelId="{EE9915C2-9BE3-4E97-8F76-BD4555C540D3}" type="parTrans" cxnId="{211D2753-4AE5-48DB-8C07-2FAE8EBC6CE5}">
      <dgm:prSet/>
      <dgm:spPr/>
      <dgm:t>
        <a:bodyPr/>
        <a:lstStyle/>
        <a:p>
          <a:endParaRPr lang="en-US"/>
        </a:p>
      </dgm:t>
    </dgm:pt>
    <dgm:pt modelId="{337810D1-78FB-4860-9DE6-35952DAB6B9E}" type="sibTrans" cxnId="{211D2753-4AE5-48DB-8C07-2FAE8EBC6CE5}">
      <dgm:prSet/>
      <dgm:spPr/>
      <dgm:t>
        <a:bodyPr/>
        <a:lstStyle/>
        <a:p>
          <a:endParaRPr lang="en-US"/>
        </a:p>
      </dgm:t>
    </dgm:pt>
    <dgm:pt modelId="{A829EB25-7BB2-4D9B-A47B-9C3404A5B885}" type="pres">
      <dgm:prSet presAssocID="{2B4E7757-0745-42AA-881B-D5C946F39E73}" presName="vert0" presStyleCnt="0">
        <dgm:presLayoutVars>
          <dgm:dir/>
          <dgm:animOne val="branch"/>
          <dgm:animLvl val="lvl"/>
        </dgm:presLayoutVars>
      </dgm:prSet>
      <dgm:spPr/>
    </dgm:pt>
    <dgm:pt modelId="{9681F3B1-4370-4898-BC9B-415891B39C87}" type="pres">
      <dgm:prSet presAssocID="{FC8DD9EF-1445-40E0-9097-74B65DED80E0}" presName="thickLine" presStyleLbl="alignNode1" presStyleIdx="0" presStyleCnt="7"/>
      <dgm:spPr/>
    </dgm:pt>
    <dgm:pt modelId="{16DF2C16-8B9C-443A-97DB-640285989DD7}" type="pres">
      <dgm:prSet presAssocID="{FC8DD9EF-1445-40E0-9097-74B65DED80E0}" presName="horz1" presStyleCnt="0"/>
      <dgm:spPr/>
    </dgm:pt>
    <dgm:pt modelId="{6B6D5937-95F7-4676-B2BB-0F2C670D6504}" type="pres">
      <dgm:prSet presAssocID="{FC8DD9EF-1445-40E0-9097-74B65DED80E0}" presName="tx1" presStyleLbl="revTx" presStyleIdx="0" presStyleCnt="7"/>
      <dgm:spPr/>
    </dgm:pt>
    <dgm:pt modelId="{9977DD2B-5535-499D-819B-A3427C7C36A6}" type="pres">
      <dgm:prSet presAssocID="{FC8DD9EF-1445-40E0-9097-74B65DED80E0}" presName="vert1" presStyleCnt="0"/>
      <dgm:spPr/>
    </dgm:pt>
    <dgm:pt modelId="{31DAE5B5-B676-4D6A-A773-AD9524074CC7}" type="pres">
      <dgm:prSet presAssocID="{8EC8B5E6-396D-4B50-ADDD-1F4B3D4C9AF6}" presName="thickLine" presStyleLbl="alignNode1" presStyleIdx="1" presStyleCnt="7"/>
      <dgm:spPr/>
    </dgm:pt>
    <dgm:pt modelId="{99E6B27D-16B8-4514-92B2-01B7DF28F4E0}" type="pres">
      <dgm:prSet presAssocID="{8EC8B5E6-396D-4B50-ADDD-1F4B3D4C9AF6}" presName="horz1" presStyleCnt="0"/>
      <dgm:spPr/>
    </dgm:pt>
    <dgm:pt modelId="{526F7DE3-B1BB-4240-B6C2-2D863873057D}" type="pres">
      <dgm:prSet presAssocID="{8EC8B5E6-396D-4B50-ADDD-1F4B3D4C9AF6}" presName="tx1" presStyleLbl="revTx" presStyleIdx="1" presStyleCnt="7"/>
      <dgm:spPr/>
    </dgm:pt>
    <dgm:pt modelId="{5CFB8C61-1784-4FB4-BA0A-7FA2381CF270}" type="pres">
      <dgm:prSet presAssocID="{8EC8B5E6-396D-4B50-ADDD-1F4B3D4C9AF6}" presName="vert1" presStyleCnt="0"/>
      <dgm:spPr/>
    </dgm:pt>
    <dgm:pt modelId="{88D055F6-9B6D-443B-ADA3-6D6C0E466F15}" type="pres">
      <dgm:prSet presAssocID="{C4D2475E-0F1B-49EB-A901-93192AFF29E3}" presName="thickLine" presStyleLbl="alignNode1" presStyleIdx="2" presStyleCnt="7"/>
      <dgm:spPr/>
    </dgm:pt>
    <dgm:pt modelId="{2F513048-6649-422E-B34A-D19E821D35A6}" type="pres">
      <dgm:prSet presAssocID="{C4D2475E-0F1B-49EB-A901-93192AFF29E3}" presName="horz1" presStyleCnt="0"/>
      <dgm:spPr/>
    </dgm:pt>
    <dgm:pt modelId="{E2FD3ADF-27B9-4F56-A1E8-AAEF042BEBA4}" type="pres">
      <dgm:prSet presAssocID="{C4D2475E-0F1B-49EB-A901-93192AFF29E3}" presName="tx1" presStyleLbl="revTx" presStyleIdx="2" presStyleCnt="7"/>
      <dgm:spPr/>
    </dgm:pt>
    <dgm:pt modelId="{046EDC28-3343-45A4-83C2-0B198B1BF1F1}" type="pres">
      <dgm:prSet presAssocID="{C4D2475E-0F1B-49EB-A901-93192AFF29E3}" presName="vert1" presStyleCnt="0"/>
      <dgm:spPr/>
    </dgm:pt>
    <dgm:pt modelId="{40654628-8BD9-4070-82A6-7206DBD739A4}" type="pres">
      <dgm:prSet presAssocID="{C6A6B4E9-E74B-4C0A-A3CE-F686F17662A4}" presName="thickLine" presStyleLbl="alignNode1" presStyleIdx="3" presStyleCnt="7"/>
      <dgm:spPr/>
    </dgm:pt>
    <dgm:pt modelId="{50B73745-8D22-4195-B59A-06C4DDBC5B9C}" type="pres">
      <dgm:prSet presAssocID="{C6A6B4E9-E74B-4C0A-A3CE-F686F17662A4}" presName="horz1" presStyleCnt="0"/>
      <dgm:spPr/>
    </dgm:pt>
    <dgm:pt modelId="{AE074D93-FD72-422A-B1F9-E099D6212DF1}" type="pres">
      <dgm:prSet presAssocID="{C6A6B4E9-E74B-4C0A-A3CE-F686F17662A4}" presName="tx1" presStyleLbl="revTx" presStyleIdx="3" presStyleCnt="7"/>
      <dgm:spPr/>
    </dgm:pt>
    <dgm:pt modelId="{A017F244-BF32-4F97-9064-AE20D08F4CC8}" type="pres">
      <dgm:prSet presAssocID="{C6A6B4E9-E74B-4C0A-A3CE-F686F17662A4}" presName="vert1" presStyleCnt="0"/>
      <dgm:spPr/>
    </dgm:pt>
    <dgm:pt modelId="{AE461B38-F44E-4F9F-BAEC-C031CE590D9C}" type="pres">
      <dgm:prSet presAssocID="{9798B4DA-A693-4F39-9E37-8C68AC2BC22E}" presName="thickLine" presStyleLbl="alignNode1" presStyleIdx="4" presStyleCnt="7"/>
      <dgm:spPr/>
    </dgm:pt>
    <dgm:pt modelId="{6C1E7722-5795-4595-975A-573F844FBE2B}" type="pres">
      <dgm:prSet presAssocID="{9798B4DA-A693-4F39-9E37-8C68AC2BC22E}" presName="horz1" presStyleCnt="0"/>
      <dgm:spPr/>
    </dgm:pt>
    <dgm:pt modelId="{959549F6-6FF0-4977-93A7-5733290BD2A7}" type="pres">
      <dgm:prSet presAssocID="{9798B4DA-A693-4F39-9E37-8C68AC2BC22E}" presName="tx1" presStyleLbl="revTx" presStyleIdx="4" presStyleCnt="7"/>
      <dgm:spPr/>
    </dgm:pt>
    <dgm:pt modelId="{8F684FD3-1FB6-4065-967D-43285BCAF1A0}" type="pres">
      <dgm:prSet presAssocID="{9798B4DA-A693-4F39-9E37-8C68AC2BC22E}" presName="vert1" presStyleCnt="0"/>
      <dgm:spPr/>
    </dgm:pt>
    <dgm:pt modelId="{6BDF7074-93FE-486F-9B5A-DF792A557C0A}" type="pres">
      <dgm:prSet presAssocID="{C6F73E9B-24AC-4FF7-8A23-49F34B7C456C}" presName="thickLine" presStyleLbl="alignNode1" presStyleIdx="5" presStyleCnt="7"/>
      <dgm:spPr/>
    </dgm:pt>
    <dgm:pt modelId="{54F48D11-E9DB-4781-A4C6-2069967F3BA4}" type="pres">
      <dgm:prSet presAssocID="{C6F73E9B-24AC-4FF7-8A23-49F34B7C456C}" presName="horz1" presStyleCnt="0"/>
      <dgm:spPr/>
    </dgm:pt>
    <dgm:pt modelId="{3879100E-A474-42DF-92C4-4506E3F52C18}" type="pres">
      <dgm:prSet presAssocID="{C6F73E9B-24AC-4FF7-8A23-49F34B7C456C}" presName="tx1" presStyleLbl="revTx" presStyleIdx="5" presStyleCnt="7"/>
      <dgm:spPr/>
    </dgm:pt>
    <dgm:pt modelId="{1FBFA6C5-DBE9-415B-AABE-7C9630113471}" type="pres">
      <dgm:prSet presAssocID="{C6F73E9B-24AC-4FF7-8A23-49F34B7C456C}" presName="vert1" presStyleCnt="0"/>
      <dgm:spPr/>
    </dgm:pt>
    <dgm:pt modelId="{A9979586-F430-4CE3-8BB7-D02E947A0E83}" type="pres">
      <dgm:prSet presAssocID="{33DA054D-24CC-4FD0-BE39-F98EC6CD7C69}" presName="thickLine" presStyleLbl="alignNode1" presStyleIdx="6" presStyleCnt="7"/>
      <dgm:spPr/>
    </dgm:pt>
    <dgm:pt modelId="{A22CEE69-4126-40CF-9AB5-A3EE0C1BCB4F}" type="pres">
      <dgm:prSet presAssocID="{33DA054D-24CC-4FD0-BE39-F98EC6CD7C69}" presName="horz1" presStyleCnt="0"/>
      <dgm:spPr/>
    </dgm:pt>
    <dgm:pt modelId="{51D339D6-D6C3-48A8-AC8A-C5A1F1E10ED4}" type="pres">
      <dgm:prSet presAssocID="{33DA054D-24CC-4FD0-BE39-F98EC6CD7C69}" presName="tx1" presStyleLbl="revTx" presStyleIdx="6" presStyleCnt="7"/>
      <dgm:spPr/>
    </dgm:pt>
    <dgm:pt modelId="{8D39A874-686C-45D1-B9A3-B96839F525F8}" type="pres">
      <dgm:prSet presAssocID="{33DA054D-24CC-4FD0-BE39-F98EC6CD7C69}" presName="vert1" presStyleCnt="0"/>
      <dgm:spPr/>
    </dgm:pt>
  </dgm:ptLst>
  <dgm:cxnLst>
    <dgm:cxn modelId="{42E23000-EF93-4F9A-BAC8-7E3841094D27}" type="presOf" srcId="{FC8DD9EF-1445-40E0-9097-74B65DED80E0}" destId="{6B6D5937-95F7-4676-B2BB-0F2C670D6504}" srcOrd="0" destOrd="0" presId="urn:microsoft.com/office/officeart/2008/layout/LinedList"/>
    <dgm:cxn modelId="{3C353107-457D-40E8-8743-135DA4ED9C89}" type="presOf" srcId="{C6F73E9B-24AC-4FF7-8A23-49F34B7C456C}" destId="{3879100E-A474-42DF-92C4-4506E3F52C18}" srcOrd="0" destOrd="0" presId="urn:microsoft.com/office/officeart/2008/layout/LinedList"/>
    <dgm:cxn modelId="{D08BE521-864B-4FDC-BD4F-E0D31BD88B5F}" type="presOf" srcId="{C6A6B4E9-E74B-4C0A-A3CE-F686F17662A4}" destId="{AE074D93-FD72-422A-B1F9-E099D6212DF1}" srcOrd="0" destOrd="0" presId="urn:microsoft.com/office/officeart/2008/layout/LinedList"/>
    <dgm:cxn modelId="{A0483627-2310-478E-9752-036D1F2E15BC}" srcId="{2B4E7757-0745-42AA-881B-D5C946F39E73}" destId="{C4D2475E-0F1B-49EB-A901-93192AFF29E3}" srcOrd="2" destOrd="0" parTransId="{F532D424-4300-45E6-8003-407E5307B99C}" sibTransId="{A86BEAFB-F56E-4BAF-9E7B-908D365B169A}"/>
    <dgm:cxn modelId="{63CBC52D-FFAD-49F1-A655-85F78CE5A483}" type="presOf" srcId="{33DA054D-24CC-4FD0-BE39-F98EC6CD7C69}" destId="{51D339D6-D6C3-48A8-AC8A-C5A1F1E10ED4}" srcOrd="0" destOrd="0" presId="urn:microsoft.com/office/officeart/2008/layout/LinedList"/>
    <dgm:cxn modelId="{A4F3C130-3DAE-4802-A329-C6BF03E56518}" srcId="{2B4E7757-0745-42AA-881B-D5C946F39E73}" destId="{FC8DD9EF-1445-40E0-9097-74B65DED80E0}" srcOrd="0" destOrd="0" parTransId="{8C21094A-FD73-447D-8CB7-E9FA18185C18}" sibTransId="{0312D139-971E-482D-8E17-3607D11B147D}"/>
    <dgm:cxn modelId="{B472EE3E-DA33-4574-ABFC-94301FE4525B}" type="presOf" srcId="{9798B4DA-A693-4F39-9E37-8C68AC2BC22E}" destId="{959549F6-6FF0-4977-93A7-5733290BD2A7}" srcOrd="0" destOrd="0" presId="urn:microsoft.com/office/officeart/2008/layout/LinedList"/>
    <dgm:cxn modelId="{30A01B62-B566-4F71-AAE5-AF8E8575A488}" type="presOf" srcId="{8EC8B5E6-396D-4B50-ADDD-1F4B3D4C9AF6}" destId="{526F7DE3-B1BB-4240-B6C2-2D863873057D}" srcOrd="0" destOrd="0" presId="urn:microsoft.com/office/officeart/2008/layout/LinedList"/>
    <dgm:cxn modelId="{211D2753-4AE5-48DB-8C07-2FAE8EBC6CE5}" srcId="{2B4E7757-0745-42AA-881B-D5C946F39E73}" destId="{33DA054D-24CC-4FD0-BE39-F98EC6CD7C69}" srcOrd="6" destOrd="0" parTransId="{EE9915C2-9BE3-4E97-8F76-BD4555C540D3}" sibTransId="{337810D1-78FB-4860-9DE6-35952DAB6B9E}"/>
    <dgm:cxn modelId="{9C7DCD58-AAF1-49AE-AB1A-47F4EBDA1F20}" srcId="{2B4E7757-0745-42AA-881B-D5C946F39E73}" destId="{C6F73E9B-24AC-4FF7-8A23-49F34B7C456C}" srcOrd="5" destOrd="0" parTransId="{03FB4B33-2ACB-4AC2-A49E-B2D8B3EEA9CC}" sibTransId="{2148B66E-81BE-4E1A-B1E2-69C1EB977C3C}"/>
    <dgm:cxn modelId="{F92F7E8D-3A06-4FFE-8C80-669EE37AF66C}" srcId="{2B4E7757-0745-42AA-881B-D5C946F39E73}" destId="{8EC8B5E6-396D-4B50-ADDD-1F4B3D4C9AF6}" srcOrd="1" destOrd="0" parTransId="{CBF4ACB9-2C4D-433B-9BB6-0163B9F473B8}" sibTransId="{3AF822B2-E5FA-40DD-AF27-9AC7FF50DD5C}"/>
    <dgm:cxn modelId="{E3B0E58F-720C-436F-BFE1-9C5CD08E5EC9}" type="presOf" srcId="{C4D2475E-0F1B-49EB-A901-93192AFF29E3}" destId="{E2FD3ADF-27B9-4F56-A1E8-AAEF042BEBA4}" srcOrd="0" destOrd="0" presId="urn:microsoft.com/office/officeart/2008/layout/LinedList"/>
    <dgm:cxn modelId="{880BFAC6-013E-4295-AF21-6FD05357A822}" type="presOf" srcId="{2B4E7757-0745-42AA-881B-D5C946F39E73}" destId="{A829EB25-7BB2-4D9B-A47B-9C3404A5B885}" srcOrd="0" destOrd="0" presId="urn:microsoft.com/office/officeart/2008/layout/LinedList"/>
    <dgm:cxn modelId="{C41CD1E7-E0F5-4179-87EB-44AEE912A212}" srcId="{2B4E7757-0745-42AA-881B-D5C946F39E73}" destId="{C6A6B4E9-E74B-4C0A-A3CE-F686F17662A4}" srcOrd="3" destOrd="0" parTransId="{09E8C8D6-2D7E-436A-8960-9B681291A792}" sibTransId="{FCF22B95-948A-45F8-A29A-8F70878D021A}"/>
    <dgm:cxn modelId="{4EBA3AEE-3F92-49B9-8C92-B76B5E2C3C72}" srcId="{2B4E7757-0745-42AA-881B-D5C946F39E73}" destId="{9798B4DA-A693-4F39-9E37-8C68AC2BC22E}" srcOrd="4" destOrd="0" parTransId="{2F0AA5F9-6849-4748-AC2D-AEDD2BF9601A}" sibTransId="{A69F81B0-BD72-4F78-A91E-A7BF9DBAFD93}"/>
    <dgm:cxn modelId="{0439A263-936F-4EB3-AEAB-CC4D103E42AD}" type="presParOf" srcId="{A829EB25-7BB2-4D9B-A47B-9C3404A5B885}" destId="{9681F3B1-4370-4898-BC9B-415891B39C87}" srcOrd="0" destOrd="0" presId="urn:microsoft.com/office/officeart/2008/layout/LinedList"/>
    <dgm:cxn modelId="{66B76E9E-F1AA-4A31-BC33-749A7E3CC95F}" type="presParOf" srcId="{A829EB25-7BB2-4D9B-A47B-9C3404A5B885}" destId="{16DF2C16-8B9C-443A-97DB-640285989DD7}" srcOrd="1" destOrd="0" presId="urn:microsoft.com/office/officeart/2008/layout/LinedList"/>
    <dgm:cxn modelId="{BE005A11-DC03-4915-A1F3-077D582E4178}" type="presParOf" srcId="{16DF2C16-8B9C-443A-97DB-640285989DD7}" destId="{6B6D5937-95F7-4676-B2BB-0F2C670D6504}" srcOrd="0" destOrd="0" presId="urn:microsoft.com/office/officeart/2008/layout/LinedList"/>
    <dgm:cxn modelId="{4B139DF0-993B-48B8-8036-918FB565DA86}" type="presParOf" srcId="{16DF2C16-8B9C-443A-97DB-640285989DD7}" destId="{9977DD2B-5535-499D-819B-A3427C7C36A6}" srcOrd="1" destOrd="0" presId="urn:microsoft.com/office/officeart/2008/layout/LinedList"/>
    <dgm:cxn modelId="{0C047547-7394-4017-9082-90AEF8DDDB04}" type="presParOf" srcId="{A829EB25-7BB2-4D9B-A47B-9C3404A5B885}" destId="{31DAE5B5-B676-4D6A-A773-AD9524074CC7}" srcOrd="2" destOrd="0" presId="urn:microsoft.com/office/officeart/2008/layout/LinedList"/>
    <dgm:cxn modelId="{4C74102F-FF52-40A8-A697-8EA20CB74E65}" type="presParOf" srcId="{A829EB25-7BB2-4D9B-A47B-9C3404A5B885}" destId="{99E6B27D-16B8-4514-92B2-01B7DF28F4E0}" srcOrd="3" destOrd="0" presId="urn:microsoft.com/office/officeart/2008/layout/LinedList"/>
    <dgm:cxn modelId="{01C17705-04F5-4162-8B3C-77407316F235}" type="presParOf" srcId="{99E6B27D-16B8-4514-92B2-01B7DF28F4E0}" destId="{526F7DE3-B1BB-4240-B6C2-2D863873057D}" srcOrd="0" destOrd="0" presId="urn:microsoft.com/office/officeart/2008/layout/LinedList"/>
    <dgm:cxn modelId="{1D5A5970-57D0-4385-9802-F19D30167547}" type="presParOf" srcId="{99E6B27D-16B8-4514-92B2-01B7DF28F4E0}" destId="{5CFB8C61-1784-4FB4-BA0A-7FA2381CF270}" srcOrd="1" destOrd="0" presId="urn:microsoft.com/office/officeart/2008/layout/LinedList"/>
    <dgm:cxn modelId="{53A2D7C3-C5D3-4E88-8A75-C440CC95F1B9}" type="presParOf" srcId="{A829EB25-7BB2-4D9B-A47B-9C3404A5B885}" destId="{88D055F6-9B6D-443B-ADA3-6D6C0E466F15}" srcOrd="4" destOrd="0" presId="urn:microsoft.com/office/officeart/2008/layout/LinedList"/>
    <dgm:cxn modelId="{BF90FA4F-3687-47DD-9839-FA4E27B130A4}" type="presParOf" srcId="{A829EB25-7BB2-4D9B-A47B-9C3404A5B885}" destId="{2F513048-6649-422E-B34A-D19E821D35A6}" srcOrd="5" destOrd="0" presId="urn:microsoft.com/office/officeart/2008/layout/LinedList"/>
    <dgm:cxn modelId="{B3D86202-4AD9-4EF7-9BD4-6E341ED0B5C4}" type="presParOf" srcId="{2F513048-6649-422E-B34A-D19E821D35A6}" destId="{E2FD3ADF-27B9-4F56-A1E8-AAEF042BEBA4}" srcOrd="0" destOrd="0" presId="urn:microsoft.com/office/officeart/2008/layout/LinedList"/>
    <dgm:cxn modelId="{586CD91F-BF6A-4C75-8E06-1E32EFA5067B}" type="presParOf" srcId="{2F513048-6649-422E-B34A-D19E821D35A6}" destId="{046EDC28-3343-45A4-83C2-0B198B1BF1F1}" srcOrd="1" destOrd="0" presId="urn:microsoft.com/office/officeart/2008/layout/LinedList"/>
    <dgm:cxn modelId="{73D32E36-9B3E-474C-A57F-270A2AD9576B}" type="presParOf" srcId="{A829EB25-7BB2-4D9B-A47B-9C3404A5B885}" destId="{40654628-8BD9-4070-82A6-7206DBD739A4}" srcOrd="6" destOrd="0" presId="urn:microsoft.com/office/officeart/2008/layout/LinedList"/>
    <dgm:cxn modelId="{F13EF27F-AB6C-4AC7-BE7F-FA420E28D1C3}" type="presParOf" srcId="{A829EB25-7BB2-4D9B-A47B-9C3404A5B885}" destId="{50B73745-8D22-4195-B59A-06C4DDBC5B9C}" srcOrd="7" destOrd="0" presId="urn:microsoft.com/office/officeart/2008/layout/LinedList"/>
    <dgm:cxn modelId="{74A4E7D8-99B2-4C22-9E60-FC9F7FC6477D}" type="presParOf" srcId="{50B73745-8D22-4195-B59A-06C4DDBC5B9C}" destId="{AE074D93-FD72-422A-B1F9-E099D6212DF1}" srcOrd="0" destOrd="0" presId="urn:microsoft.com/office/officeart/2008/layout/LinedList"/>
    <dgm:cxn modelId="{9F893D3A-6CD4-417F-BE57-B28EC1B7F354}" type="presParOf" srcId="{50B73745-8D22-4195-B59A-06C4DDBC5B9C}" destId="{A017F244-BF32-4F97-9064-AE20D08F4CC8}" srcOrd="1" destOrd="0" presId="urn:microsoft.com/office/officeart/2008/layout/LinedList"/>
    <dgm:cxn modelId="{B7D61D07-C4E7-450D-B23B-3D2081EF0CAD}" type="presParOf" srcId="{A829EB25-7BB2-4D9B-A47B-9C3404A5B885}" destId="{AE461B38-F44E-4F9F-BAEC-C031CE590D9C}" srcOrd="8" destOrd="0" presId="urn:microsoft.com/office/officeart/2008/layout/LinedList"/>
    <dgm:cxn modelId="{3C1FFCEF-89E2-49BA-84F6-8AA7F3C5EC60}" type="presParOf" srcId="{A829EB25-7BB2-4D9B-A47B-9C3404A5B885}" destId="{6C1E7722-5795-4595-975A-573F844FBE2B}" srcOrd="9" destOrd="0" presId="urn:microsoft.com/office/officeart/2008/layout/LinedList"/>
    <dgm:cxn modelId="{9C4EAC22-B3ED-4F75-AD1F-F5445AD9ADB4}" type="presParOf" srcId="{6C1E7722-5795-4595-975A-573F844FBE2B}" destId="{959549F6-6FF0-4977-93A7-5733290BD2A7}" srcOrd="0" destOrd="0" presId="urn:microsoft.com/office/officeart/2008/layout/LinedList"/>
    <dgm:cxn modelId="{641A2910-08F0-4D5A-8FD5-8C828AC1DC32}" type="presParOf" srcId="{6C1E7722-5795-4595-975A-573F844FBE2B}" destId="{8F684FD3-1FB6-4065-967D-43285BCAF1A0}" srcOrd="1" destOrd="0" presId="urn:microsoft.com/office/officeart/2008/layout/LinedList"/>
    <dgm:cxn modelId="{63397C37-7D77-42E5-8E98-BD56595DEE13}" type="presParOf" srcId="{A829EB25-7BB2-4D9B-A47B-9C3404A5B885}" destId="{6BDF7074-93FE-486F-9B5A-DF792A557C0A}" srcOrd="10" destOrd="0" presId="urn:microsoft.com/office/officeart/2008/layout/LinedList"/>
    <dgm:cxn modelId="{11338AA7-2D32-4A36-A480-7C63AC2653BF}" type="presParOf" srcId="{A829EB25-7BB2-4D9B-A47B-9C3404A5B885}" destId="{54F48D11-E9DB-4781-A4C6-2069967F3BA4}" srcOrd="11" destOrd="0" presId="urn:microsoft.com/office/officeart/2008/layout/LinedList"/>
    <dgm:cxn modelId="{170C0983-12AB-404E-A6B1-02F7C06643F2}" type="presParOf" srcId="{54F48D11-E9DB-4781-A4C6-2069967F3BA4}" destId="{3879100E-A474-42DF-92C4-4506E3F52C18}" srcOrd="0" destOrd="0" presId="urn:microsoft.com/office/officeart/2008/layout/LinedList"/>
    <dgm:cxn modelId="{F049AA52-6488-4593-BC69-3E4AD450198D}" type="presParOf" srcId="{54F48D11-E9DB-4781-A4C6-2069967F3BA4}" destId="{1FBFA6C5-DBE9-415B-AABE-7C9630113471}" srcOrd="1" destOrd="0" presId="urn:microsoft.com/office/officeart/2008/layout/LinedList"/>
    <dgm:cxn modelId="{7E3FF08D-E138-4B1D-81A5-5655F0352141}" type="presParOf" srcId="{A829EB25-7BB2-4D9B-A47B-9C3404A5B885}" destId="{A9979586-F430-4CE3-8BB7-D02E947A0E83}" srcOrd="12" destOrd="0" presId="urn:microsoft.com/office/officeart/2008/layout/LinedList"/>
    <dgm:cxn modelId="{F9098D9A-642A-4DBC-89A3-B3F6575F93BD}" type="presParOf" srcId="{A829EB25-7BB2-4D9B-A47B-9C3404A5B885}" destId="{A22CEE69-4126-40CF-9AB5-A3EE0C1BCB4F}" srcOrd="13" destOrd="0" presId="urn:microsoft.com/office/officeart/2008/layout/LinedList"/>
    <dgm:cxn modelId="{16BA916D-F770-431C-93DA-E019774D6C0A}" type="presParOf" srcId="{A22CEE69-4126-40CF-9AB5-A3EE0C1BCB4F}" destId="{51D339D6-D6C3-48A8-AC8A-C5A1F1E10ED4}" srcOrd="0" destOrd="0" presId="urn:microsoft.com/office/officeart/2008/layout/LinedList"/>
    <dgm:cxn modelId="{F2053FCE-2E7F-4C6C-BDEF-DEEC7AA58575}" type="presParOf" srcId="{A22CEE69-4126-40CF-9AB5-A3EE0C1BCB4F}" destId="{8D39A874-686C-45D1-B9A3-B96839F525F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F1FC48-15B8-4173-8611-D2AEE25B5694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3E01325-6C07-4D7C-AC38-8466294D8E35}">
      <dgm:prSet/>
      <dgm:spPr/>
      <dgm:t>
        <a:bodyPr/>
        <a:lstStyle/>
        <a:p>
          <a:r>
            <a:rPr lang="en-US"/>
            <a:t>class Post(Base):</a:t>
          </a:r>
        </a:p>
      </dgm:t>
    </dgm:pt>
    <dgm:pt modelId="{DC779ECE-D6CE-4D22-80B8-03BACFD064A6}" type="parTrans" cxnId="{8F0C2255-28A4-4FFA-A77B-C808961AA157}">
      <dgm:prSet/>
      <dgm:spPr/>
      <dgm:t>
        <a:bodyPr/>
        <a:lstStyle/>
        <a:p>
          <a:endParaRPr lang="en-US"/>
        </a:p>
      </dgm:t>
    </dgm:pt>
    <dgm:pt modelId="{771F0CF5-770B-47CD-9A5E-06F1C49D3BD1}" type="sibTrans" cxnId="{8F0C2255-28A4-4FFA-A77B-C808961AA157}">
      <dgm:prSet/>
      <dgm:spPr/>
      <dgm:t>
        <a:bodyPr/>
        <a:lstStyle/>
        <a:p>
          <a:endParaRPr lang="en-US"/>
        </a:p>
      </dgm:t>
    </dgm:pt>
    <dgm:pt modelId="{5347E136-CF71-4C1C-B20D-DF01F040D0E8}">
      <dgm:prSet/>
      <dgm:spPr/>
      <dgm:t>
        <a:bodyPr/>
        <a:lstStyle/>
        <a:p>
          <a:r>
            <a:rPr lang="en-US"/>
            <a:t>__tablename__ = 'posts'</a:t>
          </a:r>
        </a:p>
      </dgm:t>
    </dgm:pt>
    <dgm:pt modelId="{28677352-0956-4034-8627-0F913F44C09C}" type="parTrans" cxnId="{7C332DBC-2FFF-48AA-B82C-2952486F209C}">
      <dgm:prSet/>
      <dgm:spPr/>
      <dgm:t>
        <a:bodyPr/>
        <a:lstStyle/>
        <a:p>
          <a:endParaRPr lang="en-US"/>
        </a:p>
      </dgm:t>
    </dgm:pt>
    <dgm:pt modelId="{7E2B5700-2668-4EC5-90B0-FE43066C6BE2}" type="sibTrans" cxnId="{7C332DBC-2FFF-48AA-B82C-2952486F209C}">
      <dgm:prSet/>
      <dgm:spPr/>
      <dgm:t>
        <a:bodyPr/>
        <a:lstStyle/>
        <a:p>
          <a:endParaRPr lang="en-US"/>
        </a:p>
      </dgm:t>
    </dgm:pt>
    <dgm:pt modelId="{1942A2AD-AA12-4B9D-88C6-3ACB6D89205C}">
      <dgm:prSet/>
      <dgm:spPr/>
      <dgm:t>
        <a:bodyPr/>
        <a:lstStyle/>
        <a:p>
          <a:r>
            <a:rPr lang="en-US"/>
            <a:t>id = Column(Integer, primary_key=True)</a:t>
          </a:r>
        </a:p>
      </dgm:t>
    </dgm:pt>
    <dgm:pt modelId="{850076A8-9D46-493A-AADE-A01F0D477E12}" type="parTrans" cxnId="{0E6E6D4D-2081-4B04-A2DA-07FCBF608C75}">
      <dgm:prSet/>
      <dgm:spPr/>
      <dgm:t>
        <a:bodyPr/>
        <a:lstStyle/>
        <a:p>
          <a:endParaRPr lang="en-US"/>
        </a:p>
      </dgm:t>
    </dgm:pt>
    <dgm:pt modelId="{F5051907-4B63-402E-8693-D05DA0389FB7}" type="sibTrans" cxnId="{0E6E6D4D-2081-4B04-A2DA-07FCBF608C75}">
      <dgm:prSet/>
      <dgm:spPr/>
      <dgm:t>
        <a:bodyPr/>
        <a:lstStyle/>
        <a:p>
          <a:endParaRPr lang="en-US"/>
        </a:p>
      </dgm:t>
    </dgm:pt>
    <dgm:pt modelId="{29547958-9282-4946-8CAD-4F2C6FFF700B}">
      <dgm:prSet/>
      <dgm:spPr/>
      <dgm:t>
        <a:bodyPr/>
        <a:lstStyle/>
        <a:p>
          <a:r>
            <a:rPr lang="en-US"/>
            <a:t>title = Column(String)</a:t>
          </a:r>
        </a:p>
      </dgm:t>
    </dgm:pt>
    <dgm:pt modelId="{8A53C2C4-9164-46AF-8B56-DAA2032F122C}" type="parTrans" cxnId="{BD9F82BB-E505-408C-BB4D-41F70D23201B}">
      <dgm:prSet/>
      <dgm:spPr/>
      <dgm:t>
        <a:bodyPr/>
        <a:lstStyle/>
        <a:p>
          <a:endParaRPr lang="en-US"/>
        </a:p>
      </dgm:t>
    </dgm:pt>
    <dgm:pt modelId="{B3511A51-C2DF-4F52-B62C-D4171D617126}" type="sibTrans" cxnId="{BD9F82BB-E505-408C-BB4D-41F70D23201B}">
      <dgm:prSet/>
      <dgm:spPr/>
      <dgm:t>
        <a:bodyPr/>
        <a:lstStyle/>
        <a:p>
          <a:endParaRPr lang="en-US"/>
        </a:p>
      </dgm:t>
    </dgm:pt>
    <dgm:pt modelId="{6785F8E4-E39B-4F37-9719-19AF51B4C325}">
      <dgm:prSet/>
      <dgm:spPr/>
      <dgm:t>
        <a:bodyPr/>
        <a:lstStyle/>
        <a:p>
          <a:r>
            <a:rPr lang="en-US"/>
            <a:t>description = Column(String)</a:t>
          </a:r>
        </a:p>
      </dgm:t>
    </dgm:pt>
    <dgm:pt modelId="{E48B0FA1-68CA-4E58-BCB6-BE78E0B11655}" type="parTrans" cxnId="{EAB5D7F9-CE6E-4B88-BF4D-08E74F1D19D9}">
      <dgm:prSet/>
      <dgm:spPr/>
      <dgm:t>
        <a:bodyPr/>
        <a:lstStyle/>
        <a:p>
          <a:endParaRPr lang="en-US"/>
        </a:p>
      </dgm:t>
    </dgm:pt>
    <dgm:pt modelId="{D726DBCF-88D1-4E16-808D-BA8401E47583}" type="sibTrans" cxnId="{EAB5D7F9-CE6E-4B88-BF4D-08E74F1D19D9}">
      <dgm:prSet/>
      <dgm:spPr/>
      <dgm:t>
        <a:bodyPr/>
        <a:lstStyle/>
        <a:p>
          <a:endParaRPr lang="en-US"/>
        </a:p>
      </dgm:t>
    </dgm:pt>
    <dgm:pt modelId="{27AAB899-B9D2-4740-AA42-E04C2427E18D}">
      <dgm:prSet/>
      <dgm:spPr/>
      <dgm:t>
        <a:bodyPr/>
        <a:lstStyle/>
        <a:p>
          <a:r>
            <a:rPr lang="en-US"/>
            <a:t>user_id = Column(Integer, ForeignKey('users.id'))</a:t>
          </a:r>
        </a:p>
      </dgm:t>
    </dgm:pt>
    <dgm:pt modelId="{235E6552-3219-4ABD-B703-AA44DDD81796}" type="parTrans" cxnId="{E6C6C576-4783-47B8-A6C9-673FC354A162}">
      <dgm:prSet/>
      <dgm:spPr/>
      <dgm:t>
        <a:bodyPr/>
        <a:lstStyle/>
        <a:p>
          <a:endParaRPr lang="en-US"/>
        </a:p>
      </dgm:t>
    </dgm:pt>
    <dgm:pt modelId="{3DE451F8-FA37-4F7E-98A8-86B5F8FDBF4C}" type="sibTrans" cxnId="{E6C6C576-4783-47B8-A6C9-673FC354A162}">
      <dgm:prSet/>
      <dgm:spPr/>
      <dgm:t>
        <a:bodyPr/>
        <a:lstStyle/>
        <a:p>
          <a:endParaRPr lang="en-US"/>
        </a:p>
      </dgm:t>
    </dgm:pt>
    <dgm:pt modelId="{0703E87E-8146-4E91-984A-CC862446B628}" type="pres">
      <dgm:prSet presAssocID="{BEF1FC48-15B8-4173-8611-D2AEE25B5694}" presName="vert0" presStyleCnt="0">
        <dgm:presLayoutVars>
          <dgm:dir/>
          <dgm:animOne val="branch"/>
          <dgm:animLvl val="lvl"/>
        </dgm:presLayoutVars>
      </dgm:prSet>
      <dgm:spPr/>
    </dgm:pt>
    <dgm:pt modelId="{18CECB41-74D9-4999-AC35-49980FCA9E8F}" type="pres">
      <dgm:prSet presAssocID="{B3E01325-6C07-4D7C-AC38-8466294D8E35}" presName="thickLine" presStyleLbl="alignNode1" presStyleIdx="0" presStyleCnt="6"/>
      <dgm:spPr/>
    </dgm:pt>
    <dgm:pt modelId="{F70C3576-4469-470C-9F11-0F8A33A7515A}" type="pres">
      <dgm:prSet presAssocID="{B3E01325-6C07-4D7C-AC38-8466294D8E35}" presName="horz1" presStyleCnt="0"/>
      <dgm:spPr/>
    </dgm:pt>
    <dgm:pt modelId="{E87DDAF6-5CD6-42C1-AD3A-069ACB91FCAB}" type="pres">
      <dgm:prSet presAssocID="{B3E01325-6C07-4D7C-AC38-8466294D8E35}" presName="tx1" presStyleLbl="revTx" presStyleIdx="0" presStyleCnt="6"/>
      <dgm:spPr/>
    </dgm:pt>
    <dgm:pt modelId="{950C653A-5ED1-4353-A65F-1B738DB01DC0}" type="pres">
      <dgm:prSet presAssocID="{B3E01325-6C07-4D7C-AC38-8466294D8E35}" presName="vert1" presStyleCnt="0"/>
      <dgm:spPr/>
    </dgm:pt>
    <dgm:pt modelId="{F5795972-7103-4052-93C5-C8948C9C4F5B}" type="pres">
      <dgm:prSet presAssocID="{5347E136-CF71-4C1C-B20D-DF01F040D0E8}" presName="thickLine" presStyleLbl="alignNode1" presStyleIdx="1" presStyleCnt="6"/>
      <dgm:spPr/>
    </dgm:pt>
    <dgm:pt modelId="{AFACC5BD-9043-4F2E-B916-A1C80229CAF9}" type="pres">
      <dgm:prSet presAssocID="{5347E136-CF71-4C1C-B20D-DF01F040D0E8}" presName="horz1" presStyleCnt="0"/>
      <dgm:spPr/>
    </dgm:pt>
    <dgm:pt modelId="{669C803B-A603-43D3-86A9-7280E702925D}" type="pres">
      <dgm:prSet presAssocID="{5347E136-CF71-4C1C-B20D-DF01F040D0E8}" presName="tx1" presStyleLbl="revTx" presStyleIdx="1" presStyleCnt="6"/>
      <dgm:spPr/>
    </dgm:pt>
    <dgm:pt modelId="{6A5E88C2-F696-4133-AB22-B2391C520D02}" type="pres">
      <dgm:prSet presAssocID="{5347E136-CF71-4C1C-B20D-DF01F040D0E8}" presName="vert1" presStyleCnt="0"/>
      <dgm:spPr/>
    </dgm:pt>
    <dgm:pt modelId="{5B952996-D97A-4EA5-A867-BE47D3D1B6E6}" type="pres">
      <dgm:prSet presAssocID="{1942A2AD-AA12-4B9D-88C6-3ACB6D89205C}" presName="thickLine" presStyleLbl="alignNode1" presStyleIdx="2" presStyleCnt="6"/>
      <dgm:spPr/>
    </dgm:pt>
    <dgm:pt modelId="{B22DE615-51BB-4D1D-8C89-96B079F718D0}" type="pres">
      <dgm:prSet presAssocID="{1942A2AD-AA12-4B9D-88C6-3ACB6D89205C}" presName="horz1" presStyleCnt="0"/>
      <dgm:spPr/>
    </dgm:pt>
    <dgm:pt modelId="{82C33480-5A0B-40F5-A673-38294901C980}" type="pres">
      <dgm:prSet presAssocID="{1942A2AD-AA12-4B9D-88C6-3ACB6D89205C}" presName="tx1" presStyleLbl="revTx" presStyleIdx="2" presStyleCnt="6"/>
      <dgm:spPr/>
    </dgm:pt>
    <dgm:pt modelId="{37CAA8C3-76F7-46A0-BB9C-F1A3DF96F269}" type="pres">
      <dgm:prSet presAssocID="{1942A2AD-AA12-4B9D-88C6-3ACB6D89205C}" presName="vert1" presStyleCnt="0"/>
      <dgm:spPr/>
    </dgm:pt>
    <dgm:pt modelId="{D9E7FA9F-3239-4027-BEFB-01001C8863D9}" type="pres">
      <dgm:prSet presAssocID="{29547958-9282-4946-8CAD-4F2C6FFF700B}" presName="thickLine" presStyleLbl="alignNode1" presStyleIdx="3" presStyleCnt="6"/>
      <dgm:spPr/>
    </dgm:pt>
    <dgm:pt modelId="{9F3258DC-C551-46DC-A4EB-B5A0A0BF69B5}" type="pres">
      <dgm:prSet presAssocID="{29547958-9282-4946-8CAD-4F2C6FFF700B}" presName="horz1" presStyleCnt="0"/>
      <dgm:spPr/>
    </dgm:pt>
    <dgm:pt modelId="{3642F6C3-5779-4071-AB5C-86CFDD5C6EA1}" type="pres">
      <dgm:prSet presAssocID="{29547958-9282-4946-8CAD-4F2C6FFF700B}" presName="tx1" presStyleLbl="revTx" presStyleIdx="3" presStyleCnt="6"/>
      <dgm:spPr/>
    </dgm:pt>
    <dgm:pt modelId="{58B068E1-E027-4FB2-8E81-6501B26DF5B8}" type="pres">
      <dgm:prSet presAssocID="{29547958-9282-4946-8CAD-4F2C6FFF700B}" presName="vert1" presStyleCnt="0"/>
      <dgm:spPr/>
    </dgm:pt>
    <dgm:pt modelId="{DC62AEFE-2533-40C1-9330-BFB7091AA761}" type="pres">
      <dgm:prSet presAssocID="{6785F8E4-E39B-4F37-9719-19AF51B4C325}" presName="thickLine" presStyleLbl="alignNode1" presStyleIdx="4" presStyleCnt="6"/>
      <dgm:spPr/>
    </dgm:pt>
    <dgm:pt modelId="{97C9B861-C592-493A-A5D2-CA4DB5995714}" type="pres">
      <dgm:prSet presAssocID="{6785F8E4-E39B-4F37-9719-19AF51B4C325}" presName="horz1" presStyleCnt="0"/>
      <dgm:spPr/>
    </dgm:pt>
    <dgm:pt modelId="{6886B811-48A5-4311-98E5-BB356D380FA3}" type="pres">
      <dgm:prSet presAssocID="{6785F8E4-E39B-4F37-9719-19AF51B4C325}" presName="tx1" presStyleLbl="revTx" presStyleIdx="4" presStyleCnt="6"/>
      <dgm:spPr/>
    </dgm:pt>
    <dgm:pt modelId="{C0BF64F9-C443-401B-8521-5E34633B2ABF}" type="pres">
      <dgm:prSet presAssocID="{6785F8E4-E39B-4F37-9719-19AF51B4C325}" presName="vert1" presStyleCnt="0"/>
      <dgm:spPr/>
    </dgm:pt>
    <dgm:pt modelId="{302EC9C8-606A-4FF0-A2D3-0555C44EB33C}" type="pres">
      <dgm:prSet presAssocID="{27AAB899-B9D2-4740-AA42-E04C2427E18D}" presName="thickLine" presStyleLbl="alignNode1" presStyleIdx="5" presStyleCnt="6"/>
      <dgm:spPr/>
    </dgm:pt>
    <dgm:pt modelId="{0ABF659F-9FB5-4BF2-BDC5-C68D485FF035}" type="pres">
      <dgm:prSet presAssocID="{27AAB899-B9D2-4740-AA42-E04C2427E18D}" presName="horz1" presStyleCnt="0"/>
      <dgm:spPr/>
    </dgm:pt>
    <dgm:pt modelId="{28C19AB2-CD3E-4C2E-B9C7-74BBE39099C7}" type="pres">
      <dgm:prSet presAssocID="{27AAB899-B9D2-4740-AA42-E04C2427E18D}" presName="tx1" presStyleLbl="revTx" presStyleIdx="5" presStyleCnt="6"/>
      <dgm:spPr/>
    </dgm:pt>
    <dgm:pt modelId="{A3077535-9D84-4D16-9593-3D4A048D86C3}" type="pres">
      <dgm:prSet presAssocID="{27AAB899-B9D2-4740-AA42-E04C2427E18D}" presName="vert1" presStyleCnt="0"/>
      <dgm:spPr/>
    </dgm:pt>
  </dgm:ptLst>
  <dgm:cxnLst>
    <dgm:cxn modelId="{DCACC310-9503-4CEA-A0FA-F7DF7ED8DBBE}" type="presOf" srcId="{6785F8E4-E39B-4F37-9719-19AF51B4C325}" destId="{6886B811-48A5-4311-98E5-BB356D380FA3}" srcOrd="0" destOrd="0" presId="urn:microsoft.com/office/officeart/2008/layout/LinedList"/>
    <dgm:cxn modelId="{0E6E6D4D-2081-4B04-A2DA-07FCBF608C75}" srcId="{BEF1FC48-15B8-4173-8611-D2AEE25B5694}" destId="{1942A2AD-AA12-4B9D-88C6-3ACB6D89205C}" srcOrd="2" destOrd="0" parTransId="{850076A8-9D46-493A-AADE-A01F0D477E12}" sibTransId="{F5051907-4B63-402E-8693-D05DA0389FB7}"/>
    <dgm:cxn modelId="{8F0C2255-28A4-4FFA-A77B-C808961AA157}" srcId="{BEF1FC48-15B8-4173-8611-D2AEE25B5694}" destId="{B3E01325-6C07-4D7C-AC38-8466294D8E35}" srcOrd="0" destOrd="0" parTransId="{DC779ECE-D6CE-4D22-80B8-03BACFD064A6}" sibTransId="{771F0CF5-770B-47CD-9A5E-06F1C49D3BD1}"/>
    <dgm:cxn modelId="{E6C6C576-4783-47B8-A6C9-673FC354A162}" srcId="{BEF1FC48-15B8-4173-8611-D2AEE25B5694}" destId="{27AAB899-B9D2-4740-AA42-E04C2427E18D}" srcOrd="5" destOrd="0" parTransId="{235E6552-3219-4ABD-B703-AA44DDD81796}" sibTransId="{3DE451F8-FA37-4F7E-98A8-86B5F8FDBF4C}"/>
    <dgm:cxn modelId="{E7A49A93-B2B5-4BAD-B5B8-1C1F0A24EF7B}" type="presOf" srcId="{27AAB899-B9D2-4740-AA42-E04C2427E18D}" destId="{28C19AB2-CD3E-4C2E-B9C7-74BBE39099C7}" srcOrd="0" destOrd="0" presId="urn:microsoft.com/office/officeart/2008/layout/LinedList"/>
    <dgm:cxn modelId="{C50B7C9B-D16E-4ECA-AC1E-41559F2D2EE8}" type="presOf" srcId="{5347E136-CF71-4C1C-B20D-DF01F040D0E8}" destId="{669C803B-A603-43D3-86A9-7280E702925D}" srcOrd="0" destOrd="0" presId="urn:microsoft.com/office/officeart/2008/layout/LinedList"/>
    <dgm:cxn modelId="{BD9F82BB-E505-408C-BB4D-41F70D23201B}" srcId="{BEF1FC48-15B8-4173-8611-D2AEE25B5694}" destId="{29547958-9282-4946-8CAD-4F2C6FFF700B}" srcOrd="3" destOrd="0" parTransId="{8A53C2C4-9164-46AF-8B56-DAA2032F122C}" sibTransId="{B3511A51-C2DF-4F52-B62C-D4171D617126}"/>
    <dgm:cxn modelId="{7C332DBC-2FFF-48AA-B82C-2952486F209C}" srcId="{BEF1FC48-15B8-4173-8611-D2AEE25B5694}" destId="{5347E136-CF71-4C1C-B20D-DF01F040D0E8}" srcOrd="1" destOrd="0" parTransId="{28677352-0956-4034-8627-0F913F44C09C}" sibTransId="{7E2B5700-2668-4EC5-90B0-FE43066C6BE2}"/>
    <dgm:cxn modelId="{D49D46DC-B85B-4433-9833-9A6CAEF62C67}" type="presOf" srcId="{B3E01325-6C07-4D7C-AC38-8466294D8E35}" destId="{E87DDAF6-5CD6-42C1-AD3A-069ACB91FCAB}" srcOrd="0" destOrd="0" presId="urn:microsoft.com/office/officeart/2008/layout/LinedList"/>
    <dgm:cxn modelId="{7B59D7DD-85CE-41D3-9994-773E149CD991}" type="presOf" srcId="{29547958-9282-4946-8CAD-4F2C6FFF700B}" destId="{3642F6C3-5779-4071-AB5C-86CFDD5C6EA1}" srcOrd="0" destOrd="0" presId="urn:microsoft.com/office/officeart/2008/layout/LinedList"/>
    <dgm:cxn modelId="{BFDCA3DF-D1CC-41C8-9F69-C3B9304EE4A8}" type="presOf" srcId="{BEF1FC48-15B8-4173-8611-D2AEE25B5694}" destId="{0703E87E-8146-4E91-984A-CC862446B628}" srcOrd="0" destOrd="0" presId="urn:microsoft.com/office/officeart/2008/layout/LinedList"/>
    <dgm:cxn modelId="{353AF0E5-FD26-4DC8-B2B6-776A961BC46A}" type="presOf" srcId="{1942A2AD-AA12-4B9D-88C6-3ACB6D89205C}" destId="{82C33480-5A0B-40F5-A673-38294901C980}" srcOrd="0" destOrd="0" presId="urn:microsoft.com/office/officeart/2008/layout/LinedList"/>
    <dgm:cxn modelId="{EAB5D7F9-CE6E-4B88-BF4D-08E74F1D19D9}" srcId="{BEF1FC48-15B8-4173-8611-D2AEE25B5694}" destId="{6785F8E4-E39B-4F37-9719-19AF51B4C325}" srcOrd="4" destOrd="0" parTransId="{E48B0FA1-68CA-4E58-BCB6-BE78E0B11655}" sibTransId="{D726DBCF-88D1-4E16-808D-BA8401E47583}"/>
    <dgm:cxn modelId="{305E3EA2-F63C-46BC-BB99-39A662C80254}" type="presParOf" srcId="{0703E87E-8146-4E91-984A-CC862446B628}" destId="{18CECB41-74D9-4999-AC35-49980FCA9E8F}" srcOrd="0" destOrd="0" presId="urn:microsoft.com/office/officeart/2008/layout/LinedList"/>
    <dgm:cxn modelId="{389F0FAB-D21F-4A96-B5FA-70F5910565E2}" type="presParOf" srcId="{0703E87E-8146-4E91-984A-CC862446B628}" destId="{F70C3576-4469-470C-9F11-0F8A33A7515A}" srcOrd="1" destOrd="0" presId="urn:microsoft.com/office/officeart/2008/layout/LinedList"/>
    <dgm:cxn modelId="{DD97C4FC-51DC-4B50-A4D7-E041778F367C}" type="presParOf" srcId="{F70C3576-4469-470C-9F11-0F8A33A7515A}" destId="{E87DDAF6-5CD6-42C1-AD3A-069ACB91FCAB}" srcOrd="0" destOrd="0" presId="urn:microsoft.com/office/officeart/2008/layout/LinedList"/>
    <dgm:cxn modelId="{C0066684-9792-413F-9D14-05F4211BB7C2}" type="presParOf" srcId="{F70C3576-4469-470C-9F11-0F8A33A7515A}" destId="{950C653A-5ED1-4353-A65F-1B738DB01DC0}" srcOrd="1" destOrd="0" presId="urn:microsoft.com/office/officeart/2008/layout/LinedList"/>
    <dgm:cxn modelId="{E3845ABF-9BE4-4804-9430-538A2A1F0B3C}" type="presParOf" srcId="{0703E87E-8146-4E91-984A-CC862446B628}" destId="{F5795972-7103-4052-93C5-C8948C9C4F5B}" srcOrd="2" destOrd="0" presId="urn:microsoft.com/office/officeart/2008/layout/LinedList"/>
    <dgm:cxn modelId="{CF099DAC-51F0-4FCC-8C6E-A82BE41359F1}" type="presParOf" srcId="{0703E87E-8146-4E91-984A-CC862446B628}" destId="{AFACC5BD-9043-4F2E-B916-A1C80229CAF9}" srcOrd="3" destOrd="0" presId="urn:microsoft.com/office/officeart/2008/layout/LinedList"/>
    <dgm:cxn modelId="{996E4924-60B2-413D-9E7A-2B842DC4DF13}" type="presParOf" srcId="{AFACC5BD-9043-4F2E-B916-A1C80229CAF9}" destId="{669C803B-A603-43D3-86A9-7280E702925D}" srcOrd="0" destOrd="0" presId="urn:microsoft.com/office/officeart/2008/layout/LinedList"/>
    <dgm:cxn modelId="{3522BD37-2AC6-4006-8866-33BD56ACA50A}" type="presParOf" srcId="{AFACC5BD-9043-4F2E-B916-A1C80229CAF9}" destId="{6A5E88C2-F696-4133-AB22-B2391C520D02}" srcOrd="1" destOrd="0" presId="urn:microsoft.com/office/officeart/2008/layout/LinedList"/>
    <dgm:cxn modelId="{274F94B7-96C8-412A-92C3-69AD0FB85332}" type="presParOf" srcId="{0703E87E-8146-4E91-984A-CC862446B628}" destId="{5B952996-D97A-4EA5-A867-BE47D3D1B6E6}" srcOrd="4" destOrd="0" presId="urn:microsoft.com/office/officeart/2008/layout/LinedList"/>
    <dgm:cxn modelId="{E2973B27-2C85-495F-B41B-640CA0170B71}" type="presParOf" srcId="{0703E87E-8146-4E91-984A-CC862446B628}" destId="{B22DE615-51BB-4D1D-8C89-96B079F718D0}" srcOrd="5" destOrd="0" presId="urn:microsoft.com/office/officeart/2008/layout/LinedList"/>
    <dgm:cxn modelId="{437E04B5-0EF2-472E-BC1A-DD16E2327315}" type="presParOf" srcId="{B22DE615-51BB-4D1D-8C89-96B079F718D0}" destId="{82C33480-5A0B-40F5-A673-38294901C980}" srcOrd="0" destOrd="0" presId="urn:microsoft.com/office/officeart/2008/layout/LinedList"/>
    <dgm:cxn modelId="{1F60D2C0-3F0C-4DF0-B6DA-453BFCD3DCFE}" type="presParOf" srcId="{B22DE615-51BB-4D1D-8C89-96B079F718D0}" destId="{37CAA8C3-76F7-46A0-BB9C-F1A3DF96F269}" srcOrd="1" destOrd="0" presId="urn:microsoft.com/office/officeart/2008/layout/LinedList"/>
    <dgm:cxn modelId="{A7BB3237-9523-4253-A4F4-5D6769638E83}" type="presParOf" srcId="{0703E87E-8146-4E91-984A-CC862446B628}" destId="{D9E7FA9F-3239-4027-BEFB-01001C8863D9}" srcOrd="6" destOrd="0" presId="urn:microsoft.com/office/officeart/2008/layout/LinedList"/>
    <dgm:cxn modelId="{83565558-6C6C-4A5E-A8B6-75A2DC26F81A}" type="presParOf" srcId="{0703E87E-8146-4E91-984A-CC862446B628}" destId="{9F3258DC-C551-46DC-A4EB-B5A0A0BF69B5}" srcOrd="7" destOrd="0" presId="urn:microsoft.com/office/officeart/2008/layout/LinedList"/>
    <dgm:cxn modelId="{EAAC6290-4596-47C2-A6E6-42254228F23A}" type="presParOf" srcId="{9F3258DC-C551-46DC-A4EB-B5A0A0BF69B5}" destId="{3642F6C3-5779-4071-AB5C-86CFDD5C6EA1}" srcOrd="0" destOrd="0" presId="urn:microsoft.com/office/officeart/2008/layout/LinedList"/>
    <dgm:cxn modelId="{7AE74153-F148-4E3C-8B52-18B722E182E1}" type="presParOf" srcId="{9F3258DC-C551-46DC-A4EB-B5A0A0BF69B5}" destId="{58B068E1-E027-4FB2-8E81-6501B26DF5B8}" srcOrd="1" destOrd="0" presId="urn:microsoft.com/office/officeart/2008/layout/LinedList"/>
    <dgm:cxn modelId="{A2AD0ECB-FE58-46D0-BFD8-FD5E90037634}" type="presParOf" srcId="{0703E87E-8146-4E91-984A-CC862446B628}" destId="{DC62AEFE-2533-40C1-9330-BFB7091AA761}" srcOrd="8" destOrd="0" presId="urn:microsoft.com/office/officeart/2008/layout/LinedList"/>
    <dgm:cxn modelId="{7A8E0AB9-13CE-4D9F-8B75-CEB87C63D670}" type="presParOf" srcId="{0703E87E-8146-4E91-984A-CC862446B628}" destId="{97C9B861-C592-493A-A5D2-CA4DB5995714}" srcOrd="9" destOrd="0" presId="urn:microsoft.com/office/officeart/2008/layout/LinedList"/>
    <dgm:cxn modelId="{4C8AB7BB-39D5-474D-A54A-F2B88FF426B6}" type="presParOf" srcId="{97C9B861-C592-493A-A5D2-CA4DB5995714}" destId="{6886B811-48A5-4311-98E5-BB356D380FA3}" srcOrd="0" destOrd="0" presId="urn:microsoft.com/office/officeart/2008/layout/LinedList"/>
    <dgm:cxn modelId="{C18CC8D0-7F4F-452C-B948-06297D9F552D}" type="presParOf" srcId="{97C9B861-C592-493A-A5D2-CA4DB5995714}" destId="{C0BF64F9-C443-401B-8521-5E34633B2ABF}" srcOrd="1" destOrd="0" presId="urn:microsoft.com/office/officeart/2008/layout/LinedList"/>
    <dgm:cxn modelId="{89FB4C3F-4A2D-4EC8-B1C1-AFAE4D7B42CB}" type="presParOf" srcId="{0703E87E-8146-4E91-984A-CC862446B628}" destId="{302EC9C8-606A-4FF0-A2D3-0555C44EB33C}" srcOrd="10" destOrd="0" presId="urn:microsoft.com/office/officeart/2008/layout/LinedList"/>
    <dgm:cxn modelId="{BDC1F95B-7528-4896-A599-F2C5619E811A}" type="presParOf" srcId="{0703E87E-8146-4E91-984A-CC862446B628}" destId="{0ABF659F-9FB5-4BF2-BDC5-C68D485FF035}" srcOrd="11" destOrd="0" presId="urn:microsoft.com/office/officeart/2008/layout/LinedList"/>
    <dgm:cxn modelId="{D0DA0095-C2D8-4402-B820-CB646254B52C}" type="presParOf" srcId="{0ABF659F-9FB5-4BF2-BDC5-C68D485FF035}" destId="{28C19AB2-CD3E-4C2E-B9C7-74BBE39099C7}" srcOrd="0" destOrd="0" presId="urn:microsoft.com/office/officeart/2008/layout/LinedList"/>
    <dgm:cxn modelId="{820559DF-DC40-4E42-9544-1533F64D92D6}" type="presParOf" srcId="{0ABF659F-9FB5-4BF2-BDC5-C68D485FF035}" destId="{A3077535-9D84-4D16-9593-3D4A048D86C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3B1EC73-0EF8-461B-A70B-4EFD18F9CB7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293D047-4F58-4A3E-9C1C-60914E578C10}">
      <dgm:prSet/>
      <dgm:spPr/>
      <dgm:t>
        <a:bodyPr/>
        <a:lstStyle/>
        <a:p>
          <a:r>
            <a:rPr lang="en-US"/>
            <a:t>class Comment(Base):</a:t>
          </a:r>
        </a:p>
      </dgm:t>
    </dgm:pt>
    <dgm:pt modelId="{5819002F-6A68-4A3A-B42F-31D45B2C376E}" type="parTrans" cxnId="{6D267597-D3E6-4342-839F-680AB154CFB5}">
      <dgm:prSet/>
      <dgm:spPr/>
      <dgm:t>
        <a:bodyPr/>
        <a:lstStyle/>
        <a:p>
          <a:endParaRPr lang="en-US"/>
        </a:p>
      </dgm:t>
    </dgm:pt>
    <dgm:pt modelId="{851CC345-40EA-41B4-A5E6-FB48BFA23A61}" type="sibTrans" cxnId="{6D267597-D3E6-4342-839F-680AB154CFB5}">
      <dgm:prSet/>
      <dgm:spPr/>
      <dgm:t>
        <a:bodyPr/>
        <a:lstStyle/>
        <a:p>
          <a:endParaRPr lang="en-US"/>
        </a:p>
      </dgm:t>
    </dgm:pt>
    <dgm:pt modelId="{070FDDDB-C437-4848-A566-4C69D9F9FD72}">
      <dgm:prSet/>
      <dgm:spPr/>
      <dgm:t>
        <a:bodyPr/>
        <a:lstStyle/>
        <a:p>
          <a:r>
            <a:rPr lang="en-US"/>
            <a:t>__tablename__ = 'comments'</a:t>
          </a:r>
        </a:p>
      </dgm:t>
    </dgm:pt>
    <dgm:pt modelId="{EB97B78E-3FDF-46B9-B1AE-002FED09C8D1}" type="parTrans" cxnId="{2968F6E6-5CE5-402A-83F3-047FAFA7D092}">
      <dgm:prSet/>
      <dgm:spPr/>
      <dgm:t>
        <a:bodyPr/>
        <a:lstStyle/>
        <a:p>
          <a:endParaRPr lang="en-US"/>
        </a:p>
      </dgm:t>
    </dgm:pt>
    <dgm:pt modelId="{30192465-D31B-4290-AC38-94A0D15336BF}" type="sibTrans" cxnId="{2968F6E6-5CE5-402A-83F3-047FAFA7D092}">
      <dgm:prSet/>
      <dgm:spPr/>
      <dgm:t>
        <a:bodyPr/>
        <a:lstStyle/>
        <a:p>
          <a:endParaRPr lang="en-US"/>
        </a:p>
      </dgm:t>
    </dgm:pt>
    <dgm:pt modelId="{773FCB3E-CCFC-415E-A27B-AEF780E421D2}">
      <dgm:prSet/>
      <dgm:spPr/>
      <dgm:t>
        <a:bodyPr/>
        <a:lstStyle/>
        <a:p>
          <a:r>
            <a:rPr lang="en-US"/>
            <a:t>id = Column(Integer, primary_key=True)</a:t>
          </a:r>
        </a:p>
      </dgm:t>
    </dgm:pt>
    <dgm:pt modelId="{CCE3921A-6632-4022-9CBB-7655531AC99E}" type="parTrans" cxnId="{005287FE-D8A4-4A1C-B444-2189D0818EA2}">
      <dgm:prSet/>
      <dgm:spPr/>
      <dgm:t>
        <a:bodyPr/>
        <a:lstStyle/>
        <a:p>
          <a:endParaRPr lang="en-US"/>
        </a:p>
      </dgm:t>
    </dgm:pt>
    <dgm:pt modelId="{EC0EB12E-6FFB-41BB-A785-F6AA89DD575C}" type="sibTrans" cxnId="{005287FE-D8A4-4A1C-B444-2189D0818EA2}">
      <dgm:prSet/>
      <dgm:spPr/>
      <dgm:t>
        <a:bodyPr/>
        <a:lstStyle/>
        <a:p>
          <a:endParaRPr lang="en-US"/>
        </a:p>
      </dgm:t>
    </dgm:pt>
    <dgm:pt modelId="{4CD0A297-3C39-4B69-B30B-692D5276FEF3}">
      <dgm:prSet/>
      <dgm:spPr/>
      <dgm:t>
        <a:bodyPr/>
        <a:lstStyle/>
        <a:p>
          <a:r>
            <a:rPr lang="en-US"/>
            <a:t>text = Column(String)</a:t>
          </a:r>
        </a:p>
      </dgm:t>
    </dgm:pt>
    <dgm:pt modelId="{66E9D4B2-86C1-4E57-B767-3595E7DF7C00}" type="parTrans" cxnId="{9C369862-2310-42B5-91E7-60866D9C7DB7}">
      <dgm:prSet/>
      <dgm:spPr/>
      <dgm:t>
        <a:bodyPr/>
        <a:lstStyle/>
        <a:p>
          <a:endParaRPr lang="en-US"/>
        </a:p>
      </dgm:t>
    </dgm:pt>
    <dgm:pt modelId="{748B7B2A-68E8-4E26-B412-5CF3ADAD382B}" type="sibTrans" cxnId="{9C369862-2310-42B5-91E7-60866D9C7DB7}">
      <dgm:prSet/>
      <dgm:spPr/>
      <dgm:t>
        <a:bodyPr/>
        <a:lstStyle/>
        <a:p>
          <a:endParaRPr lang="en-US"/>
        </a:p>
      </dgm:t>
    </dgm:pt>
    <dgm:pt modelId="{AA37C103-966B-48DE-967F-23F1ED2AB37A}">
      <dgm:prSet/>
      <dgm:spPr/>
      <dgm:t>
        <a:bodyPr/>
        <a:lstStyle/>
        <a:p>
          <a:r>
            <a:rPr lang="en-US"/>
            <a:t>user_id = Column(Integer, ForeignKey('users.id'))</a:t>
          </a:r>
        </a:p>
      </dgm:t>
    </dgm:pt>
    <dgm:pt modelId="{82A75C66-71A6-4A0F-9582-FDB506EBE303}" type="parTrans" cxnId="{4236DF5A-A84E-4337-8DD8-B32C64C13FD4}">
      <dgm:prSet/>
      <dgm:spPr/>
      <dgm:t>
        <a:bodyPr/>
        <a:lstStyle/>
        <a:p>
          <a:endParaRPr lang="en-US"/>
        </a:p>
      </dgm:t>
    </dgm:pt>
    <dgm:pt modelId="{4B9A62B2-0B7D-4F55-A58B-0C3BEB591CAB}" type="sibTrans" cxnId="{4236DF5A-A84E-4337-8DD8-B32C64C13FD4}">
      <dgm:prSet/>
      <dgm:spPr/>
      <dgm:t>
        <a:bodyPr/>
        <a:lstStyle/>
        <a:p>
          <a:endParaRPr lang="en-US"/>
        </a:p>
      </dgm:t>
    </dgm:pt>
    <dgm:pt modelId="{8D3FECCB-288D-4454-A84C-C6A365013B07}">
      <dgm:prSet/>
      <dgm:spPr/>
      <dgm:t>
        <a:bodyPr/>
        <a:lstStyle/>
        <a:p>
          <a:r>
            <a:rPr lang="en-US"/>
            <a:t>post_id = Column(Integer, ForeignKey('posts.id'))</a:t>
          </a:r>
        </a:p>
      </dgm:t>
    </dgm:pt>
    <dgm:pt modelId="{F0618BB4-057E-4D62-AEA6-82254B35FCE6}" type="parTrans" cxnId="{E11917F6-F6E0-4BB9-B1A5-0F4A78D7473D}">
      <dgm:prSet/>
      <dgm:spPr/>
      <dgm:t>
        <a:bodyPr/>
        <a:lstStyle/>
        <a:p>
          <a:endParaRPr lang="en-US"/>
        </a:p>
      </dgm:t>
    </dgm:pt>
    <dgm:pt modelId="{95E79903-D378-403F-A3C9-613516C0249C}" type="sibTrans" cxnId="{E11917F6-F6E0-4BB9-B1A5-0F4A78D7473D}">
      <dgm:prSet/>
      <dgm:spPr/>
      <dgm:t>
        <a:bodyPr/>
        <a:lstStyle/>
        <a:p>
          <a:endParaRPr lang="en-US"/>
        </a:p>
      </dgm:t>
    </dgm:pt>
    <dgm:pt modelId="{D030C5E5-FC32-4B01-81A6-CB976E8F8030}" type="pres">
      <dgm:prSet presAssocID="{E3B1EC73-0EF8-461B-A70B-4EFD18F9CB79}" presName="vert0" presStyleCnt="0">
        <dgm:presLayoutVars>
          <dgm:dir/>
          <dgm:animOne val="branch"/>
          <dgm:animLvl val="lvl"/>
        </dgm:presLayoutVars>
      </dgm:prSet>
      <dgm:spPr/>
    </dgm:pt>
    <dgm:pt modelId="{C5BE9234-4383-4ADF-9F0C-6B215EF98602}" type="pres">
      <dgm:prSet presAssocID="{C293D047-4F58-4A3E-9C1C-60914E578C10}" presName="thickLine" presStyleLbl="alignNode1" presStyleIdx="0" presStyleCnt="6"/>
      <dgm:spPr/>
    </dgm:pt>
    <dgm:pt modelId="{DE6A5F56-AC27-4B9E-B822-B5186606A7A5}" type="pres">
      <dgm:prSet presAssocID="{C293D047-4F58-4A3E-9C1C-60914E578C10}" presName="horz1" presStyleCnt="0"/>
      <dgm:spPr/>
    </dgm:pt>
    <dgm:pt modelId="{F69CADA6-409E-4625-A314-126980BD8A30}" type="pres">
      <dgm:prSet presAssocID="{C293D047-4F58-4A3E-9C1C-60914E578C10}" presName="tx1" presStyleLbl="revTx" presStyleIdx="0" presStyleCnt="6"/>
      <dgm:spPr/>
    </dgm:pt>
    <dgm:pt modelId="{27F59EEC-6EB6-4F31-AE79-D31DC7B32AB6}" type="pres">
      <dgm:prSet presAssocID="{C293D047-4F58-4A3E-9C1C-60914E578C10}" presName="vert1" presStyleCnt="0"/>
      <dgm:spPr/>
    </dgm:pt>
    <dgm:pt modelId="{42D86773-7EEB-4FCD-A2A5-EC153B247C49}" type="pres">
      <dgm:prSet presAssocID="{070FDDDB-C437-4848-A566-4C69D9F9FD72}" presName="thickLine" presStyleLbl="alignNode1" presStyleIdx="1" presStyleCnt="6"/>
      <dgm:spPr/>
    </dgm:pt>
    <dgm:pt modelId="{4397891A-89D8-4F0A-9E15-91F403FB8B19}" type="pres">
      <dgm:prSet presAssocID="{070FDDDB-C437-4848-A566-4C69D9F9FD72}" presName="horz1" presStyleCnt="0"/>
      <dgm:spPr/>
    </dgm:pt>
    <dgm:pt modelId="{9B9EA82B-FABB-4B2F-94E3-5DC69F59250F}" type="pres">
      <dgm:prSet presAssocID="{070FDDDB-C437-4848-A566-4C69D9F9FD72}" presName="tx1" presStyleLbl="revTx" presStyleIdx="1" presStyleCnt="6"/>
      <dgm:spPr/>
    </dgm:pt>
    <dgm:pt modelId="{83D4EB50-E2CC-4318-8801-451709AD1AB7}" type="pres">
      <dgm:prSet presAssocID="{070FDDDB-C437-4848-A566-4C69D9F9FD72}" presName="vert1" presStyleCnt="0"/>
      <dgm:spPr/>
    </dgm:pt>
    <dgm:pt modelId="{E71247AF-29C0-449D-BDA5-6423C433F15E}" type="pres">
      <dgm:prSet presAssocID="{773FCB3E-CCFC-415E-A27B-AEF780E421D2}" presName="thickLine" presStyleLbl="alignNode1" presStyleIdx="2" presStyleCnt="6"/>
      <dgm:spPr/>
    </dgm:pt>
    <dgm:pt modelId="{17062EB8-8C11-4C4A-8373-36E4AFAFD745}" type="pres">
      <dgm:prSet presAssocID="{773FCB3E-CCFC-415E-A27B-AEF780E421D2}" presName="horz1" presStyleCnt="0"/>
      <dgm:spPr/>
    </dgm:pt>
    <dgm:pt modelId="{E304692E-2DDB-4AA6-88AE-665854DC0711}" type="pres">
      <dgm:prSet presAssocID="{773FCB3E-CCFC-415E-A27B-AEF780E421D2}" presName="tx1" presStyleLbl="revTx" presStyleIdx="2" presStyleCnt="6"/>
      <dgm:spPr/>
    </dgm:pt>
    <dgm:pt modelId="{9C2C94CA-DB9A-4093-99B7-62781576CA98}" type="pres">
      <dgm:prSet presAssocID="{773FCB3E-CCFC-415E-A27B-AEF780E421D2}" presName="vert1" presStyleCnt="0"/>
      <dgm:spPr/>
    </dgm:pt>
    <dgm:pt modelId="{C1515FA3-6ECB-4B17-85F9-CE27561452B5}" type="pres">
      <dgm:prSet presAssocID="{4CD0A297-3C39-4B69-B30B-692D5276FEF3}" presName="thickLine" presStyleLbl="alignNode1" presStyleIdx="3" presStyleCnt="6"/>
      <dgm:spPr/>
    </dgm:pt>
    <dgm:pt modelId="{D3FFF47D-25F9-4C7B-8553-47A0AF60ABCF}" type="pres">
      <dgm:prSet presAssocID="{4CD0A297-3C39-4B69-B30B-692D5276FEF3}" presName="horz1" presStyleCnt="0"/>
      <dgm:spPr/>
    </dgm:pt>
    <dgm:pt modelId="{77F9C441-0DDC-4541-B8E8-76BA6CA38EDD}" type="pres">
      <dgm:prSet presAssocID="{4CD0A297-3C39-4B69-B30B-692D5276FEF3}" presName="tx1" presStyleLbl="revTx" presStyleIdx="3" presStyleCnt="6"/>
      <dgm:spPr/>
    </dgm:pt>
    <dgm:pt modelId="{D5F89286-1857-4CBA-AD0D-2CA8D24A6DC3}" type="pres">
      <dgm:prSet presAssocID="{4CD0A297-3C39-4B69-B30B-692D5276FEF3}" presName="vert1" presStyleCnt="0"/>
      <dgm:spPr/>
    </dgm:pt>
    <dgm:pt modelId="{37ABE74B-2BBD-4530-9D9A-86A694CACA79}" type="pres">
      <dgm:prSet presAssocID="{AA37C103-966B-48DE-967F-23F1ED2AB37A}" presName="thickLine" presStyleLbl="alignNode1" presStyleIdx="4" presStyleCnt="6"/>
      <dgm:spPr/>
    </dgm:pt>
    <dgm:pt modelId="{37304C5C-4C7B-47BC-B4BA-88CDF1B909B3}" type="pres">
      <dgm:prSet presAssocID="{AA37C103-966B-48DE-967F-23F1ED2AB37A}" presName="horz1" presStyleCnt="0"/>
      <dgm:spPr/>
    </dgm:pt>
    <dgm:pt modelId="{3018E9F8-63EF-4BAD-825E-5128D9C10AE6}" type="pres">
      <dgm:prSet presAssocID="{AA37C103-966B-48DE-967F-23F1ED2AB37A}" presName="tx1" presStyleLbl="revTx" presStyleIdx="4" presStyleCnt="6"/>
      <dgm:spPr/>
    </dgm:pt>
    <dgm:pt modelId="{7D849B17-5DC5-496A-B079-B224C7C5815A}" type="pres">
      <dgm:prSet presAssocID="{AA37C103-966B-48DE-967F-23F1ED2AB37A}" presName="vert1" presStyleCnt="0"/>
      <dgm:spPr/>
    </dgm:pt>
    <dgm:pt modelId="{348E43C9-A7B2-4A62-BE3E-4FF22CCE7B8F}" type="pres">
      <dgm:prSet presAssocID="{8D3FECCB-288D-4454-A84C-C6A365013B07}" presName="thickLine" presStyleLbl="alignNode1" presStyleIdx="5" presStyleCnt="6"/>
      <dgm:spPr/>
    </dgm:pt>
    <dgm:pt modelId="{9E293613-9FB8-48A1-B1B5-3495156C865D}" type="pres">
      <dgm:prSet presAssocID="{8D3FECCB-288D-4454-A84C-C6A365013B07}" presName="horz1" presStyleCnt="0"/>
      <dgm:spPr/>
    </dgm:pt>
    <dgm:pt modelId="{9F62D3AA-5B6D-49E6-81EF-71E3D9F8E5B8}" type="pres">
      <dgm:prSet presAssocID="{8D3FECCB-288D-4454-A84C-C6A365013B07}" presName="tx1" presStyleLbl="revTx" presStyleIdx="5" presStyleCnt="6"/>
      <dgm:spPr/>
    </dgm:pt>
    <dgm:pt modelId="{E95F32C6-3155-41A2-84F9-F27224E7EC65}" type="pres">
      <dgm:prSet presAssocID="{8D3FECCB-288D-4454-A84C-C6A365013B07}" presName="vert1" presStyleCnt="0"/>
      <dgm:spPr/>
    </dgm:pt>
  </dgm:ptLst>
  <dgm:cxnLst>
    <dgm:cxn modelId="{A718A41B-74A1-4E36-9C0E-339283118144}" type="presOf" srcId="{8D3FECCB-288D-4454-A84C-C6A365013B07}" destId="{9F62D3AA-5B6D-49E6-81EF-71E3D9F8E5B8}" srcOrd="0" destOrd="0" presId="urn:microsoft.com/office/officeart/2008/layout/LinedList"/>
    <dgm:cxn modelId="{40DF7538-8722-47E3-9A88-FD8F96E08567}" type="presOf" srcId="{4CD0A297-3C39-4B69-B30B-692D5276FEF3}" destId="{77F9C441-0DDC-4541-B8E8-76BA6CA38EDD}" srcOrd="0" destOrd="0" presId="urn:microsoft.com/office/officeart/2008/layout/LinedList"/>
    <dgm:cxn modelId="{9C369862-2310-42B5-91E7-60866D9C7DB7}" srcId="{E3B1EC73-0EF8-461B-A70B-4EFD18F9CB79}" destId="{4CD0A297-3C39-4B69-B30B-692D5276FEF3}" srcOrd="3" destOrd="0" parTransId="{66E9D4B2-86C1-4E57-B767-3595E7DF7C00}" sibTransId="{748B7B2A-68E8-4E26-B412-5CF3ADAD382B}"/>
    <dgm:cxn modelId="{9CAE296C-B8B2-4545-8778-578820714446}" type="presOf" srcId="{E3B1EC73-0EF8-461B-A70B-4EFD18F9CB79}" destId="{D030C5E5-FC32-4B01-81A6-CB976E8F8030}" srcOrd="0" destOrd="0" presId="urn:microsoft.com/office/officeart/2008/layout/LinedList"/>
    <dgm:cxn modelId="{4236DF5A-A84E-4337-8DD8-B32C64C13FD4}" srcId="{E3B1EC73-0EF8-461B-A70B-4EFD18F9CB79}" destId="{AA37C103-966B-48DE-967F-23F1ED2AB37A}" srcOrd="4" destOrd="0" parTransId="{82A75C66-71A6-4A0F-9582-FDB506EBE303}" sibTransId="{4B9A62B2-0B7D-4F55-A58B-0C3BEB591CAB}"/>
    <dgm:cxn modelId="{723E5980-98BD-4BA3-8FA6-849DDA83B9B1}" type="presOf" srcId="{773FCB3E-CCFC-415E-A27B-AEF780E421D2}" destId="{E304692E-2DDB-4AA6-88AE-665854DC0711}" srcOrd="0" destOrd="0" presId="urn:microsoft.com/office/officeart/2008/layout/LinedList"/>
    <dgm:cxn modelId="{6D267597-D3E6-4342-839F-680AB154CFB5}" srcId="{E3B1EC73-0EF8-461B-A70B-4EFD18F9CB79}" destId="{C293D047-4F58-4A3E-9C1C-60914E578C10}" srcOrd="0" destOrd="0" parTransId="{5819002F-6A68-4A3A-B42F-31D45B2C376E}" sibTransId="{851CC345-40EA-41B4-A5E6-FB48BFA23A61}"/>
    <dgm:cxn modelId="{E5A6E79A-B2EE-43E6-A916-14F8B0458E3A}" type="presOf" srcId="{AA37C103-966B-48DE-967F-23F1ED2AB37A}" destId="{3018E9F8-63EF-4BAD-825E-5128D9C10AE6}" srcOrd="0" destOrd="0" presId="urn:microsoft.com/office/officeart/2008/layout/LinedList"/>
    <dgm:cxn modelId="{ABBF23B7-D7AA-4103-BEFD-099CEF0E7E18}" type="presOf" srcId="{070FDDDB-C437-4848-A566-4C69D9F9FD72}" destId="{9B9EA82B-FABB-4B2F-94E3-5DC69F59250F}" srcOrd="0" destOrd="0" presId="urn:microsoft.com/office/officeart/2008/layout/LinedList"/>
    <dgm:cxn modelId="{2968F6E6-5CE5-402A-83F3-047FAFA7D092}" srcId="{E3B1EC73-0EF8-461B-A70B-4EFD18F9CB79}" destId="{070FDDDB-C437-4848-A566-4C69D9F9FD72}" srcOrd="1" destOrd="0" parTransId="{EB97B78E-3FDF-46B9-B1AE-002FED09C8D1}" sibTransId="{30192465-D31B-4290-AC38-94A0D15336BF}"/>
    <dgm:cxn modelId="{6BE9FFF5-1CC3-4825-9384-9348265A71AF}" type="presOf" srcId="{C293D047-4F58-4A3E-9C1C-60914E578C10}" destId="{F69CADA6-409E-4625-A314-126980BD8A30}" srcOrd="0" destOrd="0" presId="urn:microsoft.com/office/officeart/2008/layout/LinedList"/>
    <dgm:cxn modelId="{E11917F6-F6E0-4BB9-B1A5-0F4A78D7473D}" srcId="{E3B1EC73-0EF8-461B-A70B-4EFD18F9CB79}" destId="{8D3FECCB-288D-4454-A84C-C6A365013B07}" srcOrd="5" destOrd="0" parTransId="{F0618BB4-057E-4D62-AEA6-82254B35FCE6}" sibTransId="{95E79903-D378-403F-A3C9-613516C0249C}"/>
    <dgm:cxn modelId="{005287FE-D8A4-4A1C-B444-2189D0818EA2}" srcId="{E3B1EC73-0EF8-461B-A70B-4EFD18F9CB79}" destId="{773FCB3E-CCFC-415E-A27B-AEF780E421D2}" srcOrd="2" destOrd="0" parTransId="{CCE3921A-6632-4022-9CBB-7655531AC99E}" sibTransId="{EC0EB12E-6FFB-41BB-A785-F6AA89DD575C}"/>
    <dgm:cxn modelId="{A64B52A8-3D89-4F3E-9159-4E20B0F9935A}" type="presParOf" srcId="{D030C5E5-FC32-4B01-81A6-CB976E8F8030}" destId="{C5BE9234-4383-4ADF-9F0C-6B215EF98602}" srcOrd="0" destOrd="0" presId="urn:microsoft.com/office/officeart/2008/layout/LinedList"/>
    <dgm:cxn modelId="{483BBF63-98D0-4F13-96D2-CCD6E5204EFA}" type="presParOf" srcId="{D030C5E5-FC32-4B01-81A6-CB976E8F8030}" destId="{DE6A5F56-AC27-4B9E-B822-B5186606A7A5}" srcOrd="1" destOrd="0" presId="urn:microsoft.com/office/officeart/2008/layout/LinedList"/>
    <dgm:cxn modelId="{5A6BB37C-FE70-46FB-B938-02257A574953}" type="presParOf" srcId="{DE6A5F56-AC27-4B9E-B822-B5186606A7A5}" destId="{F69CADA6-409E-4625-A314-126980BD8A30}" srcOrd="0" destOrd="0" presId="urn:microsoft.com/office/officeart/2008/layout/LinedList"/>
    <dgm:cxn modelId="{516C3FD6-92C7-4B7C-9809-C38D685F7ED8}" type="presParOf" srcId="{DE6A5F56-AC27-4B9E-B822-B5186606A7A5}" destId="{27F59EEC-6EB6-4F31-AE79-D31DC7B32AB6}" srcOrd="1" destOrd="0" presId="urn:microsoft.com/office/officeart/2008/layout/LinedList"/>
    <dgm:cxn modelId="{441B8476-BDC5-43DC-BD9E-EA9E6886D340}" type="presParOf" srcId="{D030C5E5-FC32-4B01-81A6-CB976E8F8030}" destId="{42D86773-7EEB-4FCD-A2A5-EC153B247C49}" srcOrd="2" destOrd="0" presId="urn:microsoft.com/office/officeart/2008/layout/LinedList"/>
    <dgm:cxn modelId="{27C13BA6-A754-410C-BEBB-DC2EE4F0307F}" type="presParOf" srcId="{D030C5E5-FC32-4B01-81A6-CB976E8F8030}" destId="{4397891A-89D8-4F0A-9E15-91F403FB8B19}" srcOrd="3" destOrd="0" presId="urn:microsoft.com/office/officeart/2008/layout/LinedList"/>
    <dgm:cxn modelId="{2CE154D9-355D-423D-BAC4-8DFF567A68BE}" type="presParOf" srcId="{4397891A-89D8-4F0A-9E15-91F403FB8B19}" destId="{9B9EA82B-FABB-4B2F-94E3-5DC69F59250F}" srcOrd="0" destOrd="0" presId="urn:microsoft.com/office/officeart/2008/layout/LinedList"/>
    <dgm:cxn modelId="{6563C9E6-31C1-4193-999E-1E745DAFDD61}" type="presParOf" srcId="{4397891A-89D8-4F0A-9E15-91F403FB8B19}" destId="{83D4EB50-E2CC-4318-8801-451709AD1AB7}" srcOrd="1" destOrd="0" presId="urn:microsoft.com/office/officeart/2008/layout/LinedList"/>
    <dgm:cxn modelId="{6C75B337-F22B-4993-8E13-374BE8E0BF2E}" type="presParOf" srcId="{D030C5E5-FC32-4B01-81A6-CB976E8F8030}" destId="{E71247AF-29C0-449D-BDA5-6423C433F15E}" srcOrd="4" destOrd="0" presId="urn:microsoft.com/office/officeart/2008/layout/LinedList"/>
    <dgm:cxn modelId="{B17A5749-BD68-4103-AC16-8A1C5F071829}" type="presParOf" srcId="{D030C5E5-FC32-4B01-81A6-CB976E8F8030}" destId="{17062EB8-8C11-4C4A-8373-36E4AFAFD745}" srcOrd="5" destOrd="0" presId="urn:microsoft.com/office/officeart/2008/layout/LinedList"/>
    <dgm:cxn modelId="{1A3E17FB-50C5-48D0-A6E1-5A36DEA3E788}" type="presParOf" srcId="{17062EB8-8C11-4C4A-8373-36E4AFAFD745}" destId="{E304692E-2DDB-4AA6-88AE-665854DC0711}" srcOrd="0" destOrd="0" presId="urn:microsoft.com/office/officeart/2008/layout/LinedList"/>
    <dgm:cxn modelId="{F4D4FC8C-D1C5-436A-A399-95D934A139CE}" type="presParOf" srcId="{17062EB8-8C11-4C4A-8373-36E4AFAFD745}" destId="{9C2C94CA-DB9A-4093-99B7-62781576CA98}" srcOrd="1" destOrd="0" presId="urn:microsoft.com/office/officeart/2008/layout/LinedList"/>
    <dgm:cxn modelId="{A8398F44-0320-4CA6-B8CD-056D08B0AA71}" type="presParOf" srcId="{D030C5E5-FC32-4B01-81A6-CB976E8F8030}" destId="{C1515FA3-6ECB-4B17-85F9-CE27561452B5}" srcOrd="6" destOrd="0" presId="urn:microsoft.com/office/officeart/2008/layout/LinedList"/>
    <dgm:cxn modelId="{1B786F42-B1A6-4820-9F04-3F5D74323384}" type="presParOf" srcId="{D030C5E5-FC32-4B01-81A6-CB976E8F8030}" destId="{D3FFF47D-25F9-4C7B-8553-47A0AF60ABCF}" srcOrd="7" destOrd="0" presId="urn:microsoft.com/office/officeart/2008/layout/LinedList"/>
    <dgm:cxn modelId="{C5D58F9D-AC4F-43A8-8B07-C947DC60E220}" type="presParOf" srcId="{D3FFF47D-25F9-4C7B-8553-47A0AF60ABCF}" destId="{77F9C441-0DDC-4541-B8E8-76BA6CA38EDD}" srcOrd="0" destOrd="0" presId="urn:microsoft.com/office/officeart/2008/layout/LinedList"/>
    <dgm:cxn modelId="{DC46BCFB-E9FB-4996-B28F-52F8E414D1CF}" type="presParOf" srcId="{D3FFF47D-25F9-4C7B-8553-47A0AF60ABCF}" destId="{D5F89286-1857-4CBA-AD0D-2CA8D24A6DC3}" srcOrd="1" destOrd="0" presId="urn:microsoft.com/office/officeart/2008/layout/LinedList"/>
    <dgm:cxn modelId="{FEE2D62E-0EBE-49E4-A1C7-A2DD83A06843}" type="presParOf" srcId="{D030C5E5-FC32-4B01-81A6-CB976E8F8030}" destId="{37ABE74B-2BBD-4530-9D9A-86A694CACA79}" srcOrd="8" destOrd="0" presId="urn:microsoft.com/office/officeart/2008/layout/LinedList"/>
    <dgm:cxn modelId="{98BA9229-0972-4ADB-92C7-9BD852DD6FBA}" type="presParOf" srcId="{D030C5E5-FC32-4B01-81A6-CB976E8F8030}" destId="{37304C5C-4C7B-47BC-B4BA-88CDF1B909B3}" srcOrd="9" destOrd="0" presId="urn:microsoft.com/office/officeart/2008/layout/LinedList"/>
    <dgm:cxn modelId="{CB4D8CB9-CAB6-463E-9CF2-DA073A6D76C2}" type="presParOf" srcId="{37304C5C-4C7B-47BC-B4BA-88CDF1B909B3}" destId="{3018E9F8-63EF-4BAD-825E-5128D9C10AE6}" srcOrd="0" destOrd="0" presId="urn:microsoft.com/office/officeart/2008/layout/LinedList"/>
    <dgm:cxn modelId="{47A5F65A-E89F-42A0-8165-6C4417D581A8}" type="presParOf" srcId="{37304C5C-4C7B-47BC-B4BA-88CDF1B909B3}" destId="{7D849B17-5DC5-496A-B079-B224C7C5815A}" srcOrd="1" destOrd="0" presId="urn:microsoft.com/office/officeart/2008/layout/LinedList"/>
    <dgm:cxn modelId="{23F5280C-60DA-490D-BD5B-D0234FE5942E}" type="presParOf" srcId="{D030C5E5-FC32-4B01-81A6-CB976E8F8030}" destId="{348E43C9-A7B2-4A62-BE3E-4FF22CCE7B8F}" srcOrd="10" destOrd="0" presId="urn:microsoft.com/office/officeart/2008/layout/LinedList"/>
    <dgm:cxn modelId="{7FD22ED1-63C6-4910-8D2A-7C740BA33491}" type="presParOf" srcId="{D030C5E5-FC32-4B01-81A6-CB976E8F8030}" destId="{9E293613-9FB8-48A1-B1B5-3495156C865D}" srcOrd="11" destOrd="0" presId="urn:microsoft.com/office/officeart/2008/layout/LinedList"/>
    <dgm:cxn modelId="{067FF987-F1DB-4960-A276-923DD66BEFA8}" type="presParOf" srcId="{9E293613-9FB8-48A1-B1B5-3495156C865D}" destId="{9F62D3AA-5B6D-49E6-81EF-71E3D9F8E5B8}" srcOrd="0" destOrd="0" presId="urn:microsoft.com/office/officeart/2008/layout/LinedList"/>
    <dgm:cxn modelId="{42612EF1-AA23-4FFA-9559-B90C958C78E2}" type="presParOf" srcId="{9E293613-9FB8-48A1-B1B5-3495156C865D}" destId="{E95F32C6-3155-41A2-84F9-F27224E7EC6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81F3B1-4370-4898-BC9B-415891B39C87}">
      <dsp:nvSpPr>
        <dsp:cNvPr id="0" name=""/>
        <dsp:cNvSpPr/>
      </dsp:nvSpPr>
      <dsp:spPr>
        <a:xfrm>
          <a:off x="0" y="675"/>
          <a:ext cx="629171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6D5937-95F7-4676-B2BB-0F2C670D6504}">
      <dsp:nvSpPr>
        <dsp:cNvPr id="0" name=""/>
        <dsp:cNvSpPr/>
      </dsp:nvSpPr>
      <dsp:spPr>
        <a:xfrm>
          <a:off x="0" y="675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class User(Base):</a:t>
          </a:r>
        </a:p>
      </dsp:txBody>
      <dsp:txXfrm>
        <a:off x="0" y="675"/>
        <a:ext cx="6291714" cy="789912"/>
      </dsp:txXfrm>
    </dsp:sp>
    <dsp:sp modelId="{31DAE5B5-B676-4D6A-A773-AD9524074CC7}">
      <dsp:nvSpPr>
        <dsp:cNvPr id="0" name=""/>
        <dsp:cNvSpPr/>
      </dsp:nvSpPr>
      <dsp:spPr>
        <a:xfrm>
          <a:off x="0" y="790587"/>
          <a:ext cx="629171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6F7DE3-B1BB-4240-B6C2-2D863873057D}">
      <dsp:nvSpPr>
        <dsp:cNvPr id="0" name=""/>
        <dsp:cNvSpPr/>
      </dsp:nvSpPr>
      <dsp:spPr>
        <a:xfrm>
          <a:off x="0" y="790587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__tablename__ = 'users'</a:t>
          </a:r>
        </a:p>
      </dsp:txBody>
      <dsp:txXfrm>
        <a:off x="0" y="790587"/>
        <a:ext cx="6291714" cy="789912"/>
      </dsp:txXfrm>
    </dsp:sp>
    <dsp:sp modelId="{88D055F6-9B6D-443B-ADA3-6D6C0E466F15}">
      <dsp:nvSpPr>
        <dsp:cNvPr id="0" name=""/>
        <dsp:cNvSpPr/>
      </dsp:nvSpPr>
      <dsp:spPr>
        <a:xfrm>
          <a:off x="0" y="1580499"/>
          <a:ext cx="629171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FD3ADF-27B9-4F56-A1E8-AAEF042BEBA4}">
      <dsp:nvSpPr>
        <dsp:cNvPr id="0" name=""/>
        <dsp:cNvSpPr/>
      </dsp:nvSpPr>
      <dsp:spPr>
        <a:xfrm>
          <a:off x="0" y="1580499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id = Column(Integer, primary_key=True)</a:t>
          </a:r>
        </a:p>
      </dsp:txBody>
      <dsp:txXfrm>
        <a:off x="0" y="1580499"/>
        <a:ext cx="6291714" cy="789912"/>
      </dsp:txXfrm>
    </dsp:sp>
    <dsp:sp modelId="{40654628-8BD9-4070-82A6-7206DBD739A4}">
      <dsp:nvSpPr>
        <dsp:cNvPr id="0" name=""/>
        <dsp:cNvSpPr/>
      </dsp:nvSpPr>
      <dsp:spPr>
        <a:xfrm>
          <a:off x="0" y="2370411"/>
          <a:ext cx="629171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74D93-FD72-422A-B1F9-E099D6212DF1}">
      <dsp:nvSpPr>
        <dsp:cNvPr id="0" name=""/>
        <dsp:cNvSpPr/>
      </dsp:nvSpPr>
      <dsp:spPr>
        <a:xfrm>
          <a:off x="0" y="2370411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name = Column(String)</a:t>
          </a:r>
        </a:p>
      </dsp:txBody>
      <dsp:txXfrm>
        <a:off x="0" y="2370411"/>
        <a:ext cx="6291714" cy="789912"/>
      </dsp:txXfrm>
    </dsp:sp>
    <dsp:sp modelId="{AE461B38-F44E-4F9F-BAEC-C031CE590D9C}">
      <dsp:nvSpPr>
        <dsp:cNvPr id="0" name=""/>
        <dsp:cNvSpPr/>
      </dsp:nvSpPr>
      <dsp:spPr>
        <a:xfrm>
          <a:off x="0" y="3160323"/>
          <a:ext cx="629171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9549F6-6FF0-4977-93A7-5733290BD2A7}">
      <dsp:nvSpPr>
        <dsp:cNvPr id="0" name=""/>
        <dsp:cNvSpPr/>
      </dsp:nvSpPr>
      <dsp:spPr>
        <a:xfrm>
          <a:off x="0" y="3160323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age = Column(Integer)</a:t>
          </a:r>
        </a:p>
      </dsp:txBody>
      <dsp:txXfrm>
        <a:off x="0" y="3160323"/>
        <a:ext cx="6291714" cy="789912"/>
      </dsp:txXfrm>
    </dsp:sp>
    <dsp:sp modelId="{6BDF7074-93FE-486F-9B5A-DF792A557C0A}">
      <dsp:nvSpPr>
        <dsp:cNvPr id="0" name=""/>
        <dsp:cNvSpPr/>
      </dsp:nvSpPr>
      <dsp:spPr>
        <a:xfrm>
          <a:off x="0" y="3950235"/>
          <a:ext cx="629171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79100E-A474-42DF-92C4-4506E3F52C18}">
      <dsp:nvSpPr>
        <dsp:cNvPr id="0" name=""/>
        <dsp:cNvSpPr/>
      </dsp:nvSpPr>
      <dsp:spPr>
        <a:xfrm>
          <a:off x="0" y="3950235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gender = Column(String)</a:t>
          </a:r>
        </a:p>
      </dsp:txBody>
      <dsp:txXfrm>
        <a:off x="0" y="3950235"/>
        <a:ext cx="6291714" cy="789912"/>
      </dsp:txXfrm>
    </dsp:sp>
    <dsp:sp modelId="{A9979586-F430-4CE3-8BB7-D02E947A0E83}">
      <dsp:nvSpPr>
        <dsp:cNvPr id="0" name=""/>
        <dsp:cNvSpPr/>
      </dsp:nvSpPr>
      <dsp:spPr>
        <a:xfrm>
          <a:off x="0" y="4740147"/>
          <a:ext cx="629171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D339D6-D6C3-48A8-AC8A-C5A1F1E10ED4}">
      <dsp:nvSpPr>
        <dsp:cNvPr id="0" name=""/>
        <dsp:cNvSpPr/>
      </dsp:nvSpPr>
      <dsp:spPr>
        <a:xfrm>
          <a:off x="0" y="4740147"/>
          <a:ext cx="6291714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nationality = Column(String)</a:t>
          </a:r>
        </a:p>
      </dsp:txBody>
      <dsp:txXfrm>
        <a:off x="0" y="4740147"/>
        <a:ext cx="6291714" cy="7899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CECB41-74D9-4999-AC35-49980FCA9E8F}">
      <dsp:nvSpPr>
        <dsp:cNvPr id="0" name=""/>
        <dsp:cNvSpPr/>
      </dsp:nvSpPr>
      <dsp:spPr>
        <a:xfrm>
          <a:off x="0" y="2700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7DDAF6-5CD6-42C1-AD3A-069ACB91FCAB}">
      <dsp:nvSpPr>
        <dsp:cNvPr id="0" name=""/>
        <dsp:cNvSpPr/>
      </dsp:nvSpPr>
      <dsp:spPr>
        <a:xfrm>
          <a:off x="0" y="2700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class Post(Base):</a:t>
          </a:r>
        </a:p>
      </dsp:txBody>
      <dsp:txXfrm>
        <a:off x="0" y="2700"/>
        <a:ext cx="6291714" cy="920888"/>
      </dsp:txXfrm>
    </dsp:sp>
    <dsp:sp modelId="{F5795972-7103-4052-93C5-C8948C9C4F5B}">
      <dsp:nvSpPr>
        <dsp:cNvPr id="0" name=""/>
        <dsp:cNvSpPr/>
      </dsp:nvSpPr>
      <dsp:spPr>
        <a:xfrm>
          <a:off x="0" y="923589"/>
          <a:ext cx="6291714" cy="0"/>
        </a:xfrm>
        <a:prstGeom prst="line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9C803B-A603-43D3-86A9-7280E702925D}">
      <dsp:nvSpPr>
        <dsp:cNvPr id="0" name=""/>
        <dsp:cNvSpPr/>
      </dsp:nvSpPr>
      <dsp:spPr>
        <a:xfrm>
          <a:off x="0" y="923589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__tablename__ = 'posts'</a:t>
          </a:r>
        </a:p>
      </dsp:txBody>
      <dsp:txXfrm>
        <a:off x="0" y="923589"/>
        <a:ext cx="6291714" cy="920888"/>
      </dsp:txXfrm>
    </dsp:sp>
    <dsp:sp modelId="{5B952996-D97A-4EA5-A867-BE47D3D1B6E6}">
      <dsp:nvSpPr>
        <dsp:cNvPr id="0" name=""/>
        <dsp:cNvSpPr/>
      </dsp:nvSpPr>
      <dsp:spPr>
        <a:xfrm>
          <a:off x="0" y="1844478"/>
          <a:ext cx="6291714" cy="0"/>
        </a:xfrm>
        <a:prstGeom prst="line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C33480-5A0B-40F5-A673-38294901C980}">
      <dsp:nvSpPr>
        <dsp:cNvPr id="0" name=""/>
        <dsp:cNvSpPr/>
      </dsp:nvSpPr>
      <dsp:spPr>
        <a:xfrm>
          <a:off x="0" y="1844478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id = Column(Integer, primary_key=True)</a:t>
          </a:r>
        </a:p>
      </dsp:txBody>
      <dsp:txXfrm>
        <a:off x="0" y="1844478"/>
        <a:ext cx="6291714" cy="920888"/>
      </dsp:txXfrm>
    </dsp:sp>
    <dsp:sp modelId="{D9E7FA9F-3239-4027-BEFB-01001C8863D9}">
      <dsp:nvSpPr>
        <dsp:cNvPr id="0" name=""/>
        <dsp:cNvSpPr/>
      </dsp:nvSpPr>
      <dsp:spPr>
        <a:xfrm>
          <a:off x="0" y="2765367"/>
          <a:ext cx="6291714" cy="0"/>
        </a:xfrm>
        <a:prstGeom prst="line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42F6C3-5779-4071-AB5C-86CFDD5C6EA1}">
      <dsp:nvSpPr>
        <dsp:cNvPr id="0" name=""/>
        <dsp:cNvSpPr/>
      </dsp:nvSpPr>
      <dsp:spPr>
        <a:xfrm>
          <a:off x="0" y="2765367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title = Column(String)</a:t>
          </a:r>
        </a:p>
      </dsp:txBody>
      <dsp:txXfrm>
        <a:off x="0" y="2765367"/>
        <a:ext cx="6291714" cy="920888"/>
      </dsp:txXfrm>
    </dsp:sp>
    <dsp:sp modelId="{DC62AEFE-2533-40C1-9330-BFB7091AA761}">
      <dsp:nvSpPr>
        <dsp:cNvPr id="0" name=""/>
        <dsp:cNvSpPr/>
      </dsp:nvSpPr>
      <dsp:spPr>
        <a:xfrm>
          <a:off x="0" y="3686256"/>
          <a:ext cx="6291714" cy="0"/>
        </a:xfrm>
        <a:prstGeom prst="line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86B811-48A5-4311-98E5-BB356D380FA3}">
      <dsp:nvSpPr>
        <dsp:cNvPr id="0" name=""/>
        <dsp:cNvSpPr/>
      </dsp:nvSpPr>
      <dsp:spPr>
        <a:xfrm>
          <a:off x="0" y="3686256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description = Column(String)</a:t>
          </a:r>
        </a:p>
      </dsp:txBody>
      <dsp:txXfrm>
        <a:off x="0" y="3686256"/>
        <a:ext cx="6291714" cy="920888"/>
      </dsp:txXfrm>
    </dsp:sp>
    <dsp:sp modelId="{302EC9C8-606A-4FF0-A2D3-0555C44EB33C}">
      <dsp:nvSpPr>
        <dsp:cNvPr id="0" name=""/>
        <dsp:cNvSpPr/>
      </dsp:nvSpPr>
      <dsp:spPr>
        <a:xfrm>
          <a:off x="0" y="4607145"/>
          <a:ext cx="629171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C19AB2-CD3E-4C2E-B9C7-74BBE39099C7}">
      <dsp:nvSpPr>
        <dsp:cNvPr id="0" name=""/>
        <dsp:cNvSpPr/>
      </dsp:nvSpPr>
      <dsp:spPr>
        <a:xfrm>
          <a:off x="0" y="4607145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user_id = Column(Integer, ForeignKey('users.id'))</a:t>
          </a:r>
        </a:p>
      </dsp:txBody>
      <dsp:txXfrm>
        <a:off x="0" y="4607145"/>
        <a:ext cx="6291714" cy="9208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BE9234-4383-4ADF-9F0C-6B215EF98602}">
      <dsp:nvSpPr>
        <dsp:cNvPr id="0" name=""/>
        <dsp:cNvSpPr/>
      </dsp:nvSpPr>
      <dsp:spPr>
        <a:xfrm>
          <a:off x="0" y="2700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CADA6-409E-4625-A314-126980BD8A30}">
      <dsp:nvSpPr>
        <dsp:cNvPr id="0" name=""/>
        <dsp:cNvSpPr/>
      </dsp:nvSpPr>
      <dsp:spPr>
        <a:xfrm>
          <a:off x="0" y="2700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class Comment(Base):</a:t>
          </a:r>
        </a:p>
      </dsp:txBody>
      <dsp:txXfrm>
        <a:off x="0" y="2700"/>
        <a:ext cx="6291714" cy="920888"/>
      </dsp:txXfrm>
    </dsp:sp>
    <dsp:sp modelId="{42D86773-7EEB-4FCD-A2A5-EC153B247C49}">
      <dsp:nvSpPr>
        <dsp:cNvPr id="0" name=""/>
        <dsp:cNvSpPr/>
      </dsp:nvSpPr>
      <dsp:spPr>
        <a:xfrm>
          <a:off x="0" y="923589"/>
          <a:ext cx="6291714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9EA82B-FABB-4B2F-94E3-5DC69F59250F}">
      <dsp:nvSpPr>
        <dsp:cNvPr id="0" name=""/>
        <dsp:cNvSpPr/>
      </dsp:nvSpPr>
      <dsp:spPr>
        <a:xfrm>
          <a:off x="0" y="923589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__tablename__ = 'comments'</a:t>
          </a:r>
        </a:p>
      </dsp:txBody>
      <dsp:txXfrm>
        <a:off x="0" y="923589"/>
        <a:ext cx="6291714" cy="920888"/>
      </dsp:txXfrm>
    </dsp:sp>
    <dsp:sp modelId="{E71247AF-29C0-449D-BDA5-6423C433F15E}">
      <dsp:nvSpPr>
        <dsp:cNvPr id="0" name=""/>
        <dsp:cNvSpPr/>
      </dsp:nvSpPr>
      <dsp:spPr>
        <a:xfrm>
          <a:off x="0" y="1844478"/>
          <a:ext cx="629171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04692E-2DDB-4AA6-88AE-665854DC0711}">
      <dsp:nvSpPr>
        <dsp:cNvPr id="0" name=""/>
        <dsp:cNvSpPr/>
      </dsp:nvSpPr>
      <dsp:spPr>
        <a:xfrm>
          <a:off x="0" y="1844478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id = Column(Integer, primary_key=True)</a:t>
          </a:r>
        </a:p>
      </dsp:txBody>
      <dsp:txXfrm>
        <a:off x="0" y="1844478"/>
        <a:ext cx="6291714" cy="920888"/>
      </dsp:txXfrm>
    </dsp:sp>
    <dsp:sp modelId="{C1515FA3-6ECB-4B17-85F9-CE27561452B5}">
      <dsp:nvSpPr>
        <dsp:cNvPr id="0" name=""/>
        <dsp:cNvSpPr/>
      </dsp:nvSpPr>
      <dsp:spPr>
        <a:xfrm>
          <a:off x="0" y="2765367"/>
          <a:ext cx="629171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F9C441-0DDC-4541-B8E8-76BA6CA38EDD}">
      <dsp:nvSpPr>
        <dsp:cNvPr id="0" name=""/>
        <dsp:cNvSpPr/>
      </dsp:nvSpPr>
      <dsp:spPr>
        <a:xfrm>
          <a:off x="0" y="2765367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text = Column(String)</a:t>
          </a:r>
        </a:p>
      </dsp:txBody>
      <dsp:txXfrm>
        <a:off x="0" y="2765367"/>
        <a:ext cx="6291714" cy="920888"/>
      </dsp:txXfrm>
    </dsp:sp>
    <dsp:sp modelId="{37ABE74B-2BBD-4530-9D9A-86A694CACA79}">
      <dsp:nvSpPr>
        <dsp:cNvPr id="0" name=""/>
        <dsp:cNvSpPr/>
      </dsp:nvSpPr>
      <dsp:spPr>
        <a:xfrm>
          <a:off x="0" y="3686256"/>
          <a:ext cx="629171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18E9F8-63EF-4BAD-825E-5128D9C10AE6}">
      <dsp:nvSpPr>
        <dsp:cNvPr id="0" name=""/>
        <dsp:cNvSpPr/>
      </dsp:nvSpPr>
      <dsp:spPr>
        <a:xfrm>
          <a:off x="0" y="3686256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user_id = Column(Integer, ForeignKey('users.id'))</a:t>
          </a:r>
        </a:p>
      </dsp:txBody>
      <dsp:txXfrm>
        <a:off x="0" y="3686256"/>
        <a:ext cx="6291714" cy="920888"/>
      </dsp:txXfrm>
    </dsp:sp>
    <dsp:sp modelId="{348E43C9-A7B2-4A62-BE3E-4FF22CCE7B8F}">
      <dsp:nvSpPr>
        <dsp:cNvPr id="0" name=""/>
        <dsp:cNvSpPr/>
      </dsp:nvSpPr>
      <dsp:spPr>
        <a:xfrm>
          <a:off x="0" y="4607145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62D3AA-5B6D-49E6-81EF-71E3D9F8E5B8}">
      <dsp:nvSpPr>
        <dsp:cNvPr id="0" name=""/>
        <dsp:cNvSpPr/>
      </dsp:nvSpPr>
      <dsp:spPr>
        <a:xfrm>
          <a:off x="0" y="4607145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post_id = Column(Integer, ForeignKey('posts.id'))</a:t>
          </a:r>
        </a:p>
      </dsp:txBody>
      <dsp:txXfrm>
        <a:off x="0" y="4607145"/>
        <a:ext cx="6291714" cy="9208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20810A-F3C1-4E5B-8FF8-FEA85A7C75E8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4915E-767C-4FCE-A07C-A6E6E4A1F5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9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C4F2EE28-B7B3-22EE-D3E9-0FFC06E4EF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56982C9-FF73-476C-BC0C-1CB419AAAA0A}" type="slidenum">
              <a:rPr lang="en-US" altLang="en-US" sz="1200"/>
              <a:pPr eaLnBrk="1" hangingPunct="1"/>
              <a:t>4</a:t>
            </a:fld>
            <a:endParaRPr lang="en-US" altLang="en-US" sz="12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F2BF1F57-53D1-49A8-3ECA-328B779E54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D24F7FBB-AC1B-7D7F-6A94-3161979709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1BAF58B-2D08-4E80-EE0F-59A1F5C38E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9821F84F-1265-40EF-1854-30F4AABBDF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0" y="3324225"/>
            <a:ext cx="6807200" cy="31480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C399545-9A4A-90F4-4669-35C77DF27D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B4BF9E80-C03F-6111-0189-AFE3D54956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DF77B4BE-B848-E78D-2F3C-1CDAC8C085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C3FC1E61-2F66-AEA4-6306-6F93FACD8E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B83D3EF6-D3B6-8A42-E9B5-33478832FF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F8C45FB6-0700-7152-8F0F-820BF2177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42CEC63-5856-588A-08B5-9BE137B54C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A751CFDC-A436-78F2-85B5-37EA0E3D31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CE1582ED-08F1-B6E0-AD7A-98D474C582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24C4EDDE-53C6-DFE6-E3BB-09E7C2CC22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E3F0090E-7667-BB50-9070-32C65203CA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D26C25BB-F0F7-5193-F576-3B9036B7E5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C825749D-C5E4-205F-8565-659AD91EC3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A2BA9E19-B6F9-BC6F-1CB0-6B46A77475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D3D045E1-EE9D-45D5-A793-A62C326C03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B8DF9CA0-38C9-7BAA-98E9-28BFC2A318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7CAA2364-3C67-E1A8-7294-1262EF2071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9F31970E-0959-C442-2EA9-DF267D0B0B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FD48260A-A3BC-6D51-F087-62CCBF1290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2E48AA4C-085D-A9C4-819E-7E07598EA8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A471DF1A-16F1-7C21-3257-C76770A967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DF526629-45DF-63E0-9839-CC8A774D05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1630DD4C-9A95-45D4-4AF9-56F48E0A2C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826CF28E-B281-CF9B-4A0C-55930FAA91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B12D2693-FA99-E3D1-478D-041D9CA399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1AEF22AD-41E0-8554-B1B1-EFA1EF228D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262B5B27-AD45-CF15-0910-5900ABF05B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565355E1-4C19-C50C-2579-31246653ED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2D6E670A-5B61-4320-B911-37C7150A90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9552119C-D583-5232-94B2-018186DFC8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0E55CDAA-81FD-948B-D816-9FF4010963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53D9A875-4A89-2B4C-E72C-E7B9FA3E77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66D97DCD-CA12-FA50-4221-F1B85901CD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A41EBCA2-0761-79BB-F758-2C2FBB20D6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90940A66-21A1-BD25-C9B6-C8A963E13C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AD4C5E68-74CA-B5E4-F640-38675E8493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1A0FC620-A03E-B4D1-B955-E08AF55F63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64E890F9-461A-BF74-4A9B-3A3DD736E9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CB5FE8CE-D8BE-DD5A-1181-D8F734DBE8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9F9EAAA6-0AD6-22E4-42F8-79AD38614F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4F8F8E24-3A68-6BD0-315F-8AF8C8F4CE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5F13A13B-38AC-6D8B-0567-4D67B256A1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512F0A8D-6DDE-F6DF-CA81-98BA16AF52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6714122B-BCD8-C324-ABFD-D61306FB20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8132CC3A-DEBB-31B9-E0CC-7555D175E0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1FB3A502-0CF6-8FC8-5857-B71A7E899E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75081ADC-35DB-260C-358B-A3B2538C80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27BB2D73-ED94-E10E-92C7-E5FA7ACD35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6B220EDF-DE7A-C6F7-0F9C-DF8ED3EE9E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606F9997-187B-6434-920C-424120C390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2BEE533D-7D29-ABE8-BF6C-7149A8F81B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E69CFCE9-2B0C-EEB8-6CE0-6CFF58FC2D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BFCD6274-5DC3-B5FD-DFBD-E44B5D0435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4AC19E3D-9B18-81F1-E3A9-70D7047BC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F516F11C-BE1A-ABF7-F1E5-8FBE4F21BD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848643FC-BC06-F2ED-C808-FB2C6026D8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17AC9-B240-4B3E-0534-EE6D94A698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BA316-42C7-2E02-8B04-E7C0755C10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AD4BD-5D83-16B2-301E-165A311F3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C1BED-9CB8-4E8F-9859-FFCAF085ABD6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46B29-CF4B-E8EA-84A5-1A706051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60BB9-9FE0-3435-FD40-D916C2302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95B3B-FE6D-4866-A70B-B85F4F8E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041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8589D-865D-FA3A-2849-29A9B9836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19FF0-5AEA-CEE6-716A-55B647FAE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50A06-8261-E6DB-C245-21F77E595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C1BED-9CB8-4E8F-9859-FFCAF085ABD6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BCE72-CBF0-5E9D-784E-25E8DFC00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B9EB6-37A4-DB91-FD06-F92158D81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95B3B-FE6D-4866-A70B-B85F4F8E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716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9EF9A-BD2C-B7B6-035C-8FEC3055F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2FDBA-F95C-8EC5-3489-35C772DFB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E36F8-48B4-22C6-C63C-9431E236F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C1BED-9CB8-4E8F-9859-FFCAF085ABD6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331F7-FE8B-6CEC-2FAC-7500B62D7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4EC70-7AD8-15D1-6024-50EBF69A2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95B3B-FE6D-4866-A70B-B85F4F8E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199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3A976-E159-19C6-FF9D-FD60A7CBD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AF51D-1870-0629-0980-9786CE3BA7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BF93C-221C-DFC2-A6FD-7F27FC51B2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9921C0-886C-22DE-4DB0-8B4005544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C1BED-9CB8-4E8F-9859-FFCAF085ABD6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C98EB-E624-AC1D-BFB4-51E6719FC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C561B-4CBA-23F7-7C3D-0DD7BB100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95B3B-FE6D-4866-A70B-B85F4F8E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4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921E0-57F2-3F04-B903-D2AAFE6D1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490DA3-428F-AA10-3F84-E9FAD0AFD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81D085-AD6F-C247-A617-303235E7A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9AF75C-F10D-F909-61F2-B3877848EF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3D4714-785F-6C7A-0CC5-2ECE99DA8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80C4AE-B224-3879-57FA-476F05F0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C1BED-9CB8-4E8F-9859-FFCAF085ABD6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EFEAF8-12CF-2AFC-99CF-56A8DD4E3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7C835C-E400-33AA-4198-7C75016AC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95B3B-FE6D-4866-A70B-B85F4F8E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437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8815-3001-3CAD-0715-783F2C0BB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C626B9-59DE-BF07-B0BF-CE3E0AE47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C1BED-9CB8-4E8F-9859-FFCAF085ABD6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411355-7B13-82BF-A76A-16C03C0B4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3B5E0-B826-30C5-BA05-2B77F3726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95B3B-FE6D-4866-A70B-B85F4F8E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718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C60763-EA89-8EA7-59BC-027FF89D4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C1BED-9CB8-4E8F-9859-FFCAF085ABD6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6B2BB0-9A71-1DFF-6B53-BF4D1F4FC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706BE-26B4-8B12-7AA6-6E33952D9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95B3B-FE6D-4866-A70B-B85F4F8E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554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47466-F873-B102-3E15-B6BEF0CBD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4B659-C487-F9D8-66E7-9F0D8BFAF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E1A507-1B81-8F19-6FF8-86D6C9344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9EF0C1-B21B-5EA7-4F55-4EF53658F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C1BED-9CB8-4E8F-9859-FFCAF085ABD6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D1E9FC-6180-E258-C7E2-2DF33C4C5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F9030-5CDD-603B-0A6B-3F270178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95B3B-FE6D-4866-A70B-B85F4F8E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318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55604-D36F-7298-3A27-DD11B33F2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5BFF3A-B997-AA75-A928-1DC07DC535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143987-D72D-12FD-A7B2-D57A8E6D22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F31B81-AC82-C891-F1C3-DB192B288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C1BED-9CB8-4E8F-9859-FFCAF085ABD6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875B75-33AC-62E5-DFF9-215DC24C3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9FCAD0-6974-8B6A-B05F-E361665D2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95B3B-FE6D-4866-A70B-B85F4F8E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545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80FE1-3840-260E-184E-73CD57CA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FF26F9-4163-CE24-4572-7ECE942E7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2BC6D-7D91-8B20-BD12-09EC9E23D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C1BED-9CB8-4E8F-9859-FFCAF085ABD6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C7B5B-3F19-5D6A-08A6-5063BBA6C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57030-A6F0-3470-B56D-D2BAE1058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95B3B-FE6D-4866-A70B-B85F4F8E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02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64F1F-12BE-7C91-5483-86C5B3A2A9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8F00E9-2797-AC84-710B-8528F809D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45DA8-025F-C562-35BC-665AAB8B9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C1BED-9CB8-4E8F-9859-FFCAF085ABD6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BDE07-B56F-B259-DA65-D08D91881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059D4-E4CB-2149-9671-A711C740B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95B3B-FE6D-4866-A70B-B85F4F8E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977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35060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C93DE5-96BD-5FBA-4722-B46B000D2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A9A0F-DF27-9840-D428-C8AD793AB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C1206-1DF2-D132-8158-CDFF066F7D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1C1BED-9CB8-4E8F-9859-FFCAF085ABD6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DFC7F-7A5D-A28C-855A-2BEBC3F99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9F03B-3F3C-7E5A-BE8A-F82B17595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295B3B-FE6D-4866-A70B-B85F4F8E9F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740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https://www.youtube.com/watch?v=v5MR5JnKcZI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8AD3-9ACD-3C56-068C-31F6BD1174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Python with 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3AC6B-D976-820E-3DB6-EB747A1076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Vishnu 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PONDICHERRY UNIVERSITY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623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B8A5-C613-50A4-1F28-DB5847729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Agenda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147C7F-CD36-810A-13DC-564D56900A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7036714"/>
              </p:ext>
            </p:extLst>
          </p:nvPr>
        </p:nvGraphicFramePr>
        <p:xfrm>
          <a:off x="838200" y="1695729"/>
          <a:ext cx="10515600" cy="4945243"/>
        </p:xfrm>
        <a:graphic>
          <a:graphicData uri="http://schemas.openxmlformats.org/drawingml/2006/table">
            <a:tbl>
              <a:tblPr/>
              <a:tblGrid>
                <a:gridCol w="1262974">
                  <a:extLst>
                    <a:ext uri="{9D8B030D-6E8A-4147-A177-3AD203B41FA5}">
                      <a16:colId xmlns:a16="http://schemas.microsoft.com/office/drawing/2014/main" val="1497700026"/>
                    </a:ext>
                  </a:extLst>
                </a:gridCol>
                <a:gridCol w="9252626">
                  <a:extLst>
                    <a:ext uri="{9D8B030D-6E8A-4147-A177-3AD203B41FA5}">
                      <a16:colId xmlns:a16="http://schemas.microsoft.com/office/drawing/2014/main" val="2245379356"/>
                    </a:ext>
                  </a:extLst>
                </a:gridCol>
              </a:tblGrid>
              <a:tr h="177606">
                <a:tc>
                  <a:txBody>
                    <a:bodyPr/>
                    <a:lstStyle/>
                    <a:p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Topics Covered (Full-Day Session)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7272177"/>
                  </a:ext>
                </a:extLst>
              </a:tr>
              <a:tr h="976831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 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Introduction to Python and IDEs (PyCharm,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Jupyter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Variables, Data Types, Input/Output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Control Structures: if, else,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elif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for, while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Functions: Definition, Parameters, Return Values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Hands-On: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Calculator, conditional logic, and function-based programs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379091"/>
                  </a:ext>
                </a:extLst>
              </a:tr>
              <a:tr h="1110035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 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Strings: Operations, Slicing, Built-in Methods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Lists, Tuples, Sets, Dictionaries: Methods &amp; Use Cases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List Comprehension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Python File Handling: Reading/Writing CSV using csv and pandas</a:t>
                      </a:r>
                      <a:b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Hands-On: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 entry/search tools, CSV-based record system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511886"/>
                  </a:ext>
                </a:extLst>
              </a:tr>
              <a:tr h="1110035">
                <a:tc>
                  <a:txBody>
                    <a:bodyPr/>
                    <a:lstStyle/>
                    <a:p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 3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Object-Oriented Programming in Python: Classes and Objects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Structured Query Language (SQL): CREATE, INSERT, SELECT, UPDATE, DELETE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Integrating SQL with Python using sqlite3 or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mysql.connector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Hands-On: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CRUD operations on a student database using Python &amp; SQL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146401"/>
                  </a:ext>
                </a:extLst>
              </a:tr>
              <a:tr h="976831">
                <a:tc>
                  <a:txBody>
                    <a:bodyPr/>
                    <a:lstStyle/>
                    <a:p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 4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Data Visualization with matplotlib: Line Chart, Bar Chart, Pie Chart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Importing C++ Programs into Python using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ctypes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or pybind11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Mini-Project: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Real-world scenario combining CSV/SQL data with visualization</a:t>
                      </a:r>
                      <a:b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Project Presentation &amp; Feedback Session</a:t>
                      </a:r>
                    </a:p>
                  </a:txBody>
                  <a:tcPr marL="44401" marR="44401" marT="22201" marB="222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112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906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8F0A3-B820-A6D2-D41C-8F90E1EED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File Handling: Reading/Writing CSV using csv and pandas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4B2CF-88DD-03B1-8E3A-DA672831C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(Comma Separated Values) files are one of the most common formats for storing tabular data.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provides two powerful tools to handle CSV files: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built-in csv module (lightweight and fast for basic tasks)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external pandas library (rich features for data analysis)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943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>
            <a:extLst>
              <a:ext uri="{FF2B5EF4-FFF2-40B4-BE49-F238E27FC236}">
                <a16:creationId xmlns:a16="http://schemas.microsoft.com/office/drawing/2014/main" id="{F68DA836-A5E4-543A-3361-DBF4A802EA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Brief History of Python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E4B5FF9-0B8F-8C4E-3229-455A91E2E0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2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Invented in the Netherlands, early 90s by Guido van Rossum</a:t>
            </a:r>
          </a:p>
          <a:p>
            <a:pPr>
              <a:lnSpc>
                <a:spcPct val="90000"/>
              </a:lnSpc>
            </a:pPr>
            <a:r>
              <a:rPr lang="en-US" altLang="en-US" sz="32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Named after Monty Python</a:t>
            </a:r>
          </a:p>
          <a:p>
            <a:pPr>
              <a:lnSpc>
                <a:spcPct val="90000"/>
              </a:lnSpc>
            </a:pPr>
            <a:r>
              <a:rPr lang="en-US" altLang="en-US" sz="32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Open sourced from the beginning</a:t>
            </a:r>
          </a:p>
          <a:p>
            <a:pPr>
              <a:lnSpc>
                <a:spcPct val="90000"/>
              </a:lnSpc>
            </a:pPr>
            <a:r>
              <a:rPr lang="en-US" altLang="en-US" sz="32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Considered a scripting language, but is much more</a:t>
            </a:r>
          </a:p>
          <a:p>
            <a:pPr>
              <a:lnSpc>
                <a:spcPct val="90000"/>
              </a:lnSpc>
            </a:pPr>
            <a:r>
              <a:rPr lang="en-US" altLang="en-US" sz="32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Scalable, object oriented and functional from the beginning</a:t>
            </a:r>
          </a:p>
          <a:p>
            <a:pPr>
              <a:lnSpc>
                <a:spcPct val="90000"/>
              </a:lnSpc>
            </a:pPr>
            <a:r>
              <a:rPr lang="en-US" altLang="en-US" sz="32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Used by Google from the beginning</a:t>
            </a:r>
          </a:p>
          <a:p>
            <a:pPr>
              <a:lnSpc>
                <a:spcPct val="90000"/>
              </a:lnSpc>
            </a:pPr>
            <a:r>
              <a:rPr lang="en-US" altLang="en-US" sz="32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Increasingly popular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706" name="Rectangle 2">
            <a:extLst>
              <a:ext uri="{FF2B5EF4-FFF2-40B4-BE49-F238E27FC236}">
                <a16:creationId xmlns:a16="http://schemas.microsoft.com/office/drawing/2014/main" id="{F927382A-29CA-26E0-B453-ACCCD2508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Python’s Benevolent Dictator For Life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0D2CFA67-955F-1B61-3317-92140FE80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090739"/>
            <a:ext cx="5257800" cy="353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3200">
                <a:cs typeface="Times New Roman" panose="02020603050405020304" pitchFamily="18" charset="0"/>
              </a:rPr>
              <a:t>“Python is an experiment in how  much freedom program-mers need.  Too much freedom and nobody can read another's code; too little and expressive-ness is endangered.”</a:t>
            </a:r>
          </a:p>
          <a:p>
            <a:r>
              <a:rPr lang="en-US" altLang="en-US" sz="3200">
                <a:cs typeface="Times New Roman" panose="02020603050405020304" pitchFamily="18" charset="0"/>
              </a:rPr>
              <a:t>      - Guido van Rossum </a:t>
            </a:r>
          </a:p>
        </p:txBody>
      </p:sp>
      <p:pic>
        <p:nvPicPr>
          <p:cNvPr id="21508" name="Picture 5">
            <a:extLst>
              <a:ext uri="{FF2B5EF4-FFF2-40B4-BE49-F238E27FC236}">
                <a16:creationId xmlns:a16="http://schemas.microsoft.com/office/drawing/2014/main" id="{9A1917C6-9A57-C4AC-C087-0C9BE3D86D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1600200"/>
            <a:ext cx="28448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E613D-E53C-60E2-B004-033BADE8D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Python and IDEs (PyCharm,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28453-B62E-14B7-04EF-6F0D41ABD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7697" y="2041525"/>
            <a:ext cx="6781800" cy="216693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Python?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High-level, interpreted language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 Web dev, Data Science, Automation, AI, IoT, etc.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2E48A4-E7BC-F1C3-F0F4-5A0E0B9F2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787900"/>
            <a:ext cx="4374795" cy="1325563"/>
          </a:xfrm>
          <a:prstGeom prst="rect">
            <a:avLst/>
          </a:prstGeom>
        </p:spPr>
      </p:pic>
      <p:pic>
        <p:nvPicPr>
          <p:cNvPr id="1028" name="Picture 4" descr="Project Jupyter | Home">
            <a:extLst>
              <a:ext uri="{FF2B5EF4-FFF2-40B4-BE49-F238E27FC236}">
                <a16:creationId xmlns:a16="http://schemas.microsoft.com/office/drawing/2014/main" id="{8336DE1A-3BDB-1779-677B-56CF8F1F0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9002" y="4325937"/>
            <a:ext cx="4127500" cy="2166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7DF9A3-241C-2689-DC6D-DB8220D9A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3404" y="1185099"/>
            <a:ext cx="3619500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544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BB89C-DC87-F5F9-71C6-BEC0E6969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Python compilers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8C58A7-8919-BE34-6C80-743F8C14FA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12183"/>
            <a:ext cx="10515600" cy="2778222"/>
          </a:xfrm>
        </p:spPr>
      </p:pic>
    </p:spTree>
    <p:extLst>
      <p:ext uri="{BB962C8B-B14F-4D97-AF65-F5344CB8AC3E}">
        <p14:creationId xmlns:p14="http://schemas.microsoft.com/office/powerpoint/2010/main" val="620185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7C477-0285-FED2-B2B8-916C014E3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Explore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9CF6D2-54E2-6FD5-4422-70AEAF1E72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90825" y="2098943"/>
            <a:ext cx="628569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📘 Python basics (syntax, loops, functions,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🔄 Data manipulation (Pandas, NumPy)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💾 File handling (CSV, JSON, Excel)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🗃️ Databases (Python + SQL)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📊 Data visualization (Matplotlib, Seaborn)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🧠 Machine learning (scikit-learn, TensorFlow)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🕸️ Web development (Flask, Django)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🤖 Automation &amp; scripting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🧪 Projects &amp; bootcamps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❓ Debugging or explaining your code</a:t>
            </a:r>
          </a:p>
        </p:txBody>
      </p:sp>
    </p:spTree>
    <p:extLst>
      <p:ext uri="{BB962C8B-B14F-4D97-AF65-F5344CB8AC3E}">
        <p14:creationId xmlns:p14="http://schemas.microsoft.com/office/powerpoint/2010/main" val="1289284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0B8B6-70BD-8E0E-5F9C-98BB60FB0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MIND-MAP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B80880-B1B1-2D9A-27AB-8B87E13C50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4047" y="1690688"/>
            <a:ext cx="4361128" cy="465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220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C235B5-9FBF-2FA3-F703-1B70B4B20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2C9DC4E-B5C2-F1BA-98D4-CF7EE3C7FA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1661383"/>
              </p:ext>
            </p:extLst>
          </p:nvPr>
        </p:nvGraphicFramePr>
        <p:xfrm>
          <a:off x="643467" y="700179"/>
          <a:ext cx="10905068" cy="5693929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1341927">
                  <a:extLst>
                    <a:ext uri="{9D8B030D-6E8A-4147-A177-3AD203B41FA5}">
                      <a16:colId xmlns:a16="http://schemas.microsoft.com/office/drawing/2014/main" val="2866240623"/>
                    </a:ext>
                  </a:extLst>
                </a:gridCol>
                <a:gridCol w="2105830">
                  <a:extLst>
                    <a:ext uri="{9D8B030D-6E8A-4147-A177-3AD203B41FA5}">
                      <a16:colId xmlns:a16="http://schemas.microsoft.com/office/drawing/2014/main" val="2508424922"/>
                    </a:ext>
                  </a:extLst>
                </a:gridCol>
                <a:gridCol w="1910833">
                  <a:extLst>
                    <a:ext uri="{9D8B030D-6E8A-4147-A177-3AD203B41FA5}">
                      <a16:colId xmlns:a16="http://schemas.microsoft.com/office/drawing/2014/main" val="3627891712"/>
                    </a:ext>
                  </a:extLst>
                </a:gridCol>
                <a:gridCol w="3679871">
                  <a:extLst>
                    <a:ext uri="{9D8B030D-6E8A-4147-A177-3AD203B41FA5}">
                      <a16:colId xmlns:a16="http://schemas.microsoft.com/office/drawing/2014/main" val="1520449174"/>
                    </a:ext>
                  </a:extLst>
                </a:gridCol>
                <a:gridCol w="1866607">
                  <a:extLst>
                    <a:ext uri="{9D8B030D-6E8A-4147-A177-3AD203B41FA5}">
                      <a16:colId xmlns:a16="http://schemas.microsoft.com/office/drawing/2014/main" val="1796442288"/>
                    </a:ext>
                  </a:extLst>
                </a:gridCol>
              </a:tblGrid>
              <a:tr h="548080">
                <a:tc>
                  <a:txBody>
                    <a:bodyPr/>
                    <a:lstStyle/>
                    <a:p>
                      <a:r>
                        <a:rPr lang="en-IN" sz="1800" b="1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  <a:endParaRPr lang="en-IN" sz="1800" cap="none" spc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 Example</a:t>
                      </a:r>
                      <a:endParaRPr lang="en-IN" sz="1800" cap="none" spc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800" cap="none" spc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 Program</a:t>
                      </a:r>
                      <a:endParaRPr lang="en-IN" sz="1800" cap="none" spc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IN" sz="1800" cap="none" spc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846701"/>
                  </a:ext>
                </a:extLst>
              </a:tr>
              <a:tr h="818261">
                <a:tc>
                  <a:txBody>
                    <a:bodyPr/>
                    <a:lstStyle/>
                    <a:p>
                      <a:r>
                        <a:rPr lang="en-IN" sz="1800" b="1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= "Alice"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 (text)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= "Alice“</a:t>
                      </a:r>
                    </a:p>
                    <a:p>
                      <a:r>
                        <a:rPr lang="en-IN" sz="18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print(name)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Alice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563805"/>
                  </a:ext>
                </a:extLst>
              </a:tr>
              <a:tr h="818261">
                <a:tc>
                  <a:txBody>
                    <a:bodyPr/>
                    <a:lstStyle/>
                    <a:p>
                      <a:r>
                        <a:rPr lang="en-IN" sz="1800" b="1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 = 25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 (whole number)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 = 25</a:t>
                      </a:r>
                    </a:p>
                    <a:p>
                      <a:r>
                        <a:rPr lang="en-IN" sz="1800" b="1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print(age)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421501"/>
                  </a:ext>
                </a:extLst>
              </a:tr>
              <a:tr h="818261">
                <a:tc>
                  <a:txBody>
                    <a:bodyPr/>
                    <a:lstStyle/>
                    <a:p>
                      <a:r>
                        <a:rPr lang="en-IN" sz="1800" b="1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height = 5.6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Floating point number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height = 5.6</a:t>
                      </a:r>
                    </a:p>
                    <a:p>
                      <a:r>
                        <a:rPr lang="en-IN" sz="1800" b="1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print(height)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5.6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984700"/>
                  </a:ext>
                </a:extLst>
              </a:tr>
              <a:tr h="818261">
                <a:tc>
                  <a:txBody>
                    <a:bodyPr/>
                    <a:lstStyle/>
                    <a:p>
                      <a:r>
                        <a:rPr lang="en-IN" sz="18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is_student = True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Boolean (True or False)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sz="18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is_student = True</a:t>
                      </a:r>
                    </a:p>
                    <a:p>
                      <a:r>
                        <a:rPr lang="nl-NL" sz="18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print(is_student)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983033"/>
                  </a:ext>
                </a:extLst>
              </a:tr>
              <a:tr h="818261">
                <a:tc>
                  <a:txBody>
                    <a:bodyPr/>
                    <a:lstStyle/>
                    <a:p>
                      <a:r>
                        <a:rPr lang="en-IN" sz="1800" b="1" cap="none" spc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NoneType</a:t>
                      </a:r>
                      <a:endParaRPr lang="en-IN" sz="1800" b="1" cap="none" spc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nothing = None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Represents no value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nothing = None</a:t>
                      </a:r>
                    </a:p>
                    <a:p>
                      <a:r>
                        <a:rPr lang="en-IN" sz="18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print(nothing)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547019"/>
                  </a:ext>
                </a:extLst>
              </a:tr>
              <a:tr h="818261">
                <a:tc>
                  <a:txBody>
                    <a:bodyPr/>
                    <a:lstStyle/>
                    <a:p>
                      <a:r>
                        <a:rPr lang="en-IN" sz="18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fruits = ["apple", "banana", "cherry"]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Ordered, mutable collection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fruits = ["</a:t>
                      </a:r>
                      <a:r>
                        <a:rPr lang="fr-FR" sz="1800" b="1" cap="none" spc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</a:t>
                      </a:r>
                      <a:r>
                        <a:rPr lang="fr-FR" sz="18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", "banana", "cherry"]</a:t>
                      </a:r>
                    </a:p>
                    <a:p>
                      <a:r>
                        <a:rPr lang="fr-FR" sz="1800" b="1" cap="none" spc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</a:t>
                      </a:r>
                      <a:r>
                        <a:rPr lang="fr-FR" sz="1800" b="1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(fruits)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['apple', 'banana', 'cherry']</a:t>
                      </a:r>
                    </a:p>
                  </a:txBody>
                  <a:tcPr marL="150529" marR="41121" marT="115792" marB="11579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648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8272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FB52A0-7196-1696-2D9A-17965F3312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4380077"/>
              </p:ext>
            </p:extLst>
          </p:nvPr>
        </p:nvGraphicFramePr>
        <p:xfrm>
          <a:off x="643467" y="698500"/>
          <a:ext cx="10905068" cy="5256246"/>
        </p:xfrm>
        <a:graphic>
          <a:graphicData uri="http://schemas.openxmlformats.org/drawingml/2006/table">
            <a:tbl>
              <a:tblPr/>
              <a:tblGrid>
                <a:gridCol w="1176380">
                  <a:extLst>
                    <a:ext uri="{9D8B030D-6E8A-4147-A177-3AD203B41FA5}">
                      <a16:colId xmlns:a16="http://schemas.microsoft.com/office/drawing/2014/main" val="3266047184"/>
                    </a:ext>
                  </a:extLst>
                </a:gridCol>
                <a:gridCol w="1880544">
                  <a:extLst>
                    <a:ext uri="{9D8B030D-6E8A-4147-A177-3AD203B41FA5}">
                      <a16:colId xmlns:a16="http://schemas.microsoft.com/office/drawing/2014/main" val="2121229980"/>
                    </a:ext>
                  </a:extLst>
                </a:gridCol>
                <a:gridCol w="2413944">
                  <a:extLst>
                    <a:ext uri="{9D8B030D-6E8A-4147-A177-3AD203B41FA5}">
                      <a16:colId xmlns:a16="http://schemas.microsoft.com/office/drawing/2014/main" val="3861479846"/>
                    </a:ext>
                  </a:extLst>
                </a:gridCol>
                <a:gridCol w="3242825">
                  <a:extLst>
                    <a:ext uri="{9D8B030D-6E8A-4147-A177-3AD203B41FA5}">
                      <a16:colId xmlns:a16="http://schemas.microsoft.com/office/drawing/2014/main" val="1139500349"/>
                    </a:ext>
                  </a:extLst>
                </a:gridCol>
                <a:gridCol w="2191375">
                  <a:extLst>
                    <a:ext uri="{9D8B030D-6E8A-4147-A177-3AD203B41FA5}">
                      <a16:colId xmlns:a16="http://schemas.microsoft.com/office/drawing/2014/main" val="4284581331"/>
                    </a:ext>
                  </a:extLst>
                </a:gridCol>
              </a:tblGrid>
              <a:tr h="546084">
                <a:tc>
                  <a:txBody>
                    <a:bodyPr/>
                    <a:lstStyle/>
                    <a:p>
                      <a:r>
                        <a:rPr lang="en-IN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  <a:endParaRPr lang="en-IN" sz="1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 Example</a:t>
                      </a:r>
                      <a:endParaRPr lang="en-IN" sz="1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 Program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</a:t>
                      </a:r>
                      <a:endParaRPr lang="en-IN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286648"/>
                  </a:ext>
                </a:extLst>
              </a:tr>
              <a:tr h="599202">
                <a:tc>
                  <a:txBody>
                    <a:bodyPr/>
                    <a:lstStyle/>
                    <a:p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tuple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coordinates = (10.0, 20.0)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Ordered, immutable collection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coordinates = (10.0, 20.0)</a:t>
                      </a:r>
                    </a:p>
                    <a:p>
                      <a:r>
                        <a:rPr lang="en-IN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print(coordinates)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(10.0, 20.0)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145385"/>
                  </a:ext>
                </a:extLst>
              </a:tr>
              <a:tr h="599202">
                <a:tc>
                  <a:txBody>
                    <a:bodyPr/>
                    <a:lstStyle/>
                    <a:p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unique_numbers = {1, 2, 3, 4}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Unordered unique elements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unique_numbers = {1, 2, 3, 4}</a:t>
                      </a:r>
                    </a:p>
                    <a:p>
                      <a:r>
                        <a:rPr lang="en-IN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print(unique_numbers)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{1, 2, 3, 4} </a:t>
                      </a:r>
                      <a:r>
                        <a:rPr lang="en-US" sz="17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(order may vary)</a:t>
                      </a:r>
                      <a:endParaRPr lang="en-US" sz="1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159460"/>
                  </a:ext>
                </a:extLst>
              </a:tr>
              <a:tr h="857076">
                <a:tc>
                  <a:txBody>
                    <a:bodyPr/>
                    <a:lstStyle/>
                    <a:p>
                      <a:r>
                        <a:rPr lang="en-IN" sz="17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dict</a:t>
                      </a:r>
                      <a:endParaRPr lang="en-IN" sz="17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= {"name": "Alice", "age": 25}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Key-value pairs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= {"name": "Alice", "age": 25}</a:t>
                      </a:r>
                    </a:p>
                    <a:p>
                      <a:r>
                        <a:rPr lang="en-US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print(student)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{'name': 'Alice', 'age': 25}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610452"/>
                  </a:ext>
                </a:extLst>
              </a:tr>
              <a:tr h="599202">
                <a:tc>
                  <a:txBody>
                    <a:bodyPr/>
                    <a:lstStyle/>
                    <a:p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 = 3 + 5j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number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 = 3 + 5j</a:t>
                      </a:r>
                      <a:endParaRPr lang="en-US" sz="17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pl-PL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print(z)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(3+5j)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202850"/>
                  </a:ext>
                </a:extLst>
              </a:tr>
              <a:tr h="599202">
                <a:tc>
                  <a:txBody>
                    <a:bodyPr/>
                    <a:lstStyle/>
                    <a:p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bytes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byte_data = b"hello"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Immutable byte sequence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byte_data = b"hello“</a:t>
                      </a:r>
                    </a:p>
                    <a:p>
                      <a:r>
                        <a:rPr lang="en-IN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print(byte_data)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b'hello'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925752"/>
                  </a:ext>
                </a:extLst>
              </a:tr>
              <a:tr h="857076">
                <a:tc>
                  <a:txBody>
                    <a:bodyPr/>
                    <a:lstStyle/>
                    <a:p>
                      <a:r>
                        <a:rPr lang="en-IN" sz="17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bytearray</a:t>
                      </a:r>
                      <a:endParaRPr lang="en-IN" sz="17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mutable_bytes</a:t>
                      </a:r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sz="17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bytearray</a:t>
                      </a:r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([65, 66, 67])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Mutable byte sequence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mutable_bytes = bytearray([65, 66, 67])</a:t>
                      </a:r>
                    </a:p>
                    <a:p>
                      <a:r>
                        <a:rPr lang="en-US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print(mutable_bytes)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bytearray(b'ABC')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555582"/>
                  </a:ext>
                </a:extLst>
              </a:tr>
              <a:tr h="599202">
                <a:tc>
                  <a:txBody>
                    <a:bodyPr/>
                    <a:lstStyle/>
                    <a:p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range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numbers = range(1, 5)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Sequence of numbers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numbers = range(1, 5)</a:t>
                      </a:r>
                    </a:p>
                    <a:p>
                      <a:r>
                        <a:rPr lang="en-US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print(list(numbers))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[1, 2, 3, 4]</a:t>
                      </a:r>
                    </a:p>
                  </a:txBody>
                  <a:tcPr marL="39248" marR="39248" marT="19623" marB="196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815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5574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381F7-5676-99F4-591A-160D95D57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7F24D-58F6-A78D-481A-8B18406EC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Bitwise Operators in Python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1CF709-2E7F-7603-9CE2-BFC83DB3AC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8479156"/>
              </p:ext>
            </p:extLst>
          </p:nvPr>
        </p:nvGraphicFramePr>
        <p:xfrm>
          <a:off x="1479550" y="2044859"/>
          <a:ext cx="9232899" cy="2560320"/>
        </p:xfrm>
        <a:graphic>
          <a:graphicData uri="http://schemas.openxmlformats.org/drawingml/2006/table">
            <a:tbl>
              <a:tblPr/>
              <a:tblGrid>
                <a:gridCol w="3077633">
                  <a:extLst>
                    <a:ext uri="{9D8B030D-6E8A-4147-A177-3AD203B41FA5}">
                      <a16:colId xmlns:a16="http://schemas.microsoft.com/office/drawing/2014/main" val="3482649032"/>
                    </a:ext>
                  </a:extLst>
                </a:gridCol>
                <a:gridCol w="3077633">
                  <a:extLst>
                    <a:ext uri="{9D8B030D-6E8A-4147-A177-3AD203B41FA5}">
                      <a16:colId xmlns:a16="http://schemas.microsoft.com/office/drawing/2014/main" val="2424344965"/>
                    </a:ext>
                  </a:extLst>
                </a:gridCol>
                <a:gridCol w="3077633">
                  <a:extLst>
                    <a:ext uri="{9D8B030D-6E8A-4147-A177-3AD203B41FA5}">
                      <a16:colId xmlns:a16="http://schemas.microsoft.com/office/drawing/2014/main" val="39516305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680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&amp;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743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`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411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^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^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967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893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&lt;&lt;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Left Shift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&lt;&lt;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648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Right Shift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&gt;&gt;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633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8716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DF33C-A155-C053-37FA-BFA1FAC32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Bit Allocation Table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737EC66-6232-DCBF-585C-790DBAB14D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4552003"/>
              </p:ext>
            </p:extLst>
          </p:nvPr>
        </p:nvGraphicFramePr>
        <p:xfrm>
          <a:off x="838201" y="1774882"/>
          <a:ext cx="10515600" cy="4416356"/>
        </p:xfrm>
        <a:graphic>
          <a:graphicData uri="http://schemas.openxmlformats.org/drawingml/2006/table">
            <a:tbl>
              <a:tblPr/>
              <a:tblGrid>
                <a:gridCol w="1343024">
                  <a:extLst>
                    <a:ext uri="{9D8B030D-6E8A-4147-A177-3AD203B41FA5}">
                      <a16:colId xmlns:a16="http://schemas.microsoft.com/office/drawing/2014/main" val="3339766713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079658140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33776895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58994731"/>
                    </a:ext>
                  </a:extLst>
                </a:gridCol>
                <a:gridCol w="4819651">
                  <a:extLst>
                    <a:ext uri="{9D8B030D-6E8A-4147-A177-3AD203B41FA5}">
                      <a16:colId xmlns:a16="http://schemas.microsoft.com/office/drawing/2014/main" val="3274323931"/>
                    </a:ext>
                  </a:extLst>
                </a:gridCol>
              </a:tblGrid>
              <a:tr h="346129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Typical Python Type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 Format Code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 (bits)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Notes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974235"/>
                  </a:ext>
                </a:extLst>
              </a:tr>
              <a:tr h="346129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Boolean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Stored as 1 byte (True/False)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655590"/>
                  </a:ext>
                </a:extLst>
              </a:tr>
              <a:tr h="346129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 (small)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 / B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b: signed, B: unsigned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469784"/>
                  </a:ext>
                </a:extLst>
              </a:tr>
              <a:tr h="346129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 (short)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 / H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h: signed, H: unsigned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030123"/>
                  </a:ext>
                </a:extLst>
              </a:tr>
              <a:tr h="346129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 (int)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 / I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i: signed, I: unsigned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072987"/>
                  </a:ext>
                </a:extLst>
              </a:tr>
              <a:tr h="346129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 (long)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 / L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Often same as int on 32-bit systems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514249"/>
                  </a:ext>
                </a:extLst>
              </a:tr>
              <a:tr h="346129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 Long Int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 / Q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q: signed, Q: unsigned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781580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 (single)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754 float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45036"/>
                  </a:ext>
                </a:extLst>
              </a:tr>
              <a:tr h="346129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 (double)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754 double precision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552029"/>
                  </a:ext>
                </a:extLst>
              </a:tr>
              <a:tr h="346129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 (1 char)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byte per ASCII character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644688"/>
                  </a:ext>
                </a:extLst>
              </a:tr>
              <a:tr h="346129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(variable size)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× n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byte per character in UTF-8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558065"/>
                  </a:ext>
                </a:extLst>
              </a:tr>
              <a:tr h="346129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bytes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s, p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× n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on string length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476101"/>
                  </a:ext>
                </a:extLst>
              </a:tr>
              <a:tr h="346129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Two 64-bit floats (real +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49447" marR="49447" marT="24724" marB="2472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826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2787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E6500-3BF3-2D39-7DD6-E34DC5667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B316C-83C0-C909-DE1F-685CE2F3E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Control Structures in Python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A67029D-B965-BA5E-F4D8-98F4B1C3E3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9822054"/>
              </p:ext>
            </p:extLst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2219325">
                  <a:extLst>
                    <a:ext uri="{9D8B030D-6E8A-4147-A177-3AD203B41FA5}">
                      <a16:colId xmlns:a16="http://schemas.microsoft.com/office/drawing/2014/main" val="823024925"/>
                    </a:ext>
                  </a:extLst>
                </a:gridCol>
                <a:gridCol w="4791075">
                  <a:extLst>
                    <a:ext uri="{9D8B030D-6E8A-4147-A177-3AD203B41FA5}">
                      <a16:colId xmlns:a16="http://schemas.microsoft.com/office/drawing/2014/main" val="6887478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280299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625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Execute code if a condition is 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x &gt; 5: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518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to run if condition is 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else: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009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elif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conditions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elif x == 5: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692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Iterate over a sequence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item in list: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497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Loop while a condition is 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while count &lt; 5: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309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8205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54AC-C3DE-E445-BCD3-B9E4A49E5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Python?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D1C6A-294D-6347-9E5F-C54E0A0F4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Python is a popular high-level programming language used in various applications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Python is an easy language to learn because of its simple syntax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Python can be used for simple tasks such as plotting or for more complex tasks like machine learning</a:t>
            </a:r>
          </a:p>
          <a:p>
            <a:pPr lvl="1"/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391B548C-207D-B345-9E17-1A594038958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8629" y="3949220"/>
            <a:ext cx="2214743" cy="21426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1312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39669-94C8-5647-9F38-04113041B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Variables, Objects, and Classes 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53DC2-F53C-6C4C-BC13-5025CA803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en-US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variable </a:t>
            </a:r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 a reference to a value stored in a computer’s memory. </a:t>
            </a:r>
          </a:p>
          <a:p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Variables can be sorted into a variety of categories (or </a:t>
            </a:r>
            <a:r>
              <a:rPr lang="en-US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types</a:t>
            </a:r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such as </a:t>
            </a:r>
            <a:r>
              <a:rPr lang="en-US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numbers (int/float </a:t>
            </a:r>
            <a:r>
              <a:rPr lang="en-US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etc</a:t>
            </a:r>
            <a:r>
              <a:rPr lang="en-US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), Boolean values (true/false), </a:t>
            </a:r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</a:t>
            </a:r>
            <a:r>
              <a:rPr lang="en-US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sequences (strings, lists </a:t>
            </a:r>
            <a:r>
              <a:rPr lang="en-US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etc</a:t>
            </a:r>
            <a:r>
              <a:rPr lang="en-US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 </a:t>
            </a:r>
            <a:r>
              <a:rPr lang="en-US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object </a:t>
            </a:r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 a collection of data from a computer’s memory that can be manipulated. </a:t>
            </a:r>
          </a:p>
          <a:p>
            <a:pPr lvl="1"/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ALL VARIABLES ARE OBJECTS 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although some objects can be defined by data referred to by multiple variables. </a:t>
            </a:r>
          </a:p>
          <a:p>
            <a:pPr lvl="1"/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Methods 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are the functions used to act on/alter an object’s data. They describe what your object can “do.”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637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6B051EB-26E4-BF4C-A207-C4201A4A96EC}"/>
              </a:ext>
            </a:extLst>
          </p:cNvPr>
          <p:cNvSpPr/>
          <p:nvPr/>
        </p:nvSpPr>
        <p:spPr>
          <a:xfrm>
            <a:off x="9576949" y="4108231"/>
            <a:ext cx="1517515" cy="765243"/>
          </a:xfrm>
          <a:prstGeom prst="roundRect">
            <a:avLst/>
          </a:prstGeom>
          <a:solidFill>
            <a:srgbClr val="6091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C6379CA-F112-A041-A8EE-0B93ED366F76}"/>
              </a:ext>
            </a:extLst>
          </p:cNvPr>
          <p:cNvSpPr/>
          <p:nvPr/>
        </p:nvSpPr>
        <p:spPr>
          <a:xfrm>
            <a:off x="9576949" y="3273036"/>
            <a:ext cx="1517515" cy="765243"/>
          </a:xfrm>
          <a:prstGeom prst="roundRect">
            <a:avLst/>
          </a:prstGeom>
          <a:solidFill>
            <a:srgbClr val="F8A8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6253E0D-A5C9-9D45-8966-E684C7FE109E}"/>
              </a:ext>
            </a:extLst>
          </p:cNvPr>
          <p:cNvSpPr/>
          <p:nvPr/>
        </p:nvSpPr>
        <p:spPr>
          <a:xfrm>
            <a:off x="9576949" y="2454092"/>
            <a:ext cx="1517515" cy="765243"/>
          </a:xfrm>
          <a:prstGeom prst="roundRect">
            <a:avLst/>
          </a:prstGeom>
          <a:solidFill>
            <a:srgbClr val="8D6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79D5F0-26AA-3A4D-A00A-BB76ED4CB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Variables, Objects, and Classes (cont.)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B0A7F-77FB-1841-B281-CC243A013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1" y="1536633"/>
            <a:ext cx="5562239" cy="3677051"/>
          </a:xfrm>
        </p:spPr>
        <p:txBody>
          <a:bodyPr/>
          <a:lstStyle/>
          <a:p>
            <a:pPr algn="just"/>
            <a:r>
              <a:rPr lang="en-US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en-US" sz="20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class </a:t>
            </a:r>
            <a:r>
              <a:rPr lang="en-US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 a collection of objects who share the same set of variables/methods. </a:t>
            </a:r>
          </a:p>
          <a:p>
            <a:pPr lvl="1" algn="just"/>
            <a:r>
              <a:rPr lang="en-US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definition of the class provides a blueprint for all the objects within it (</a:t>
            </a:r>
            <a:r>
              <a:rPr lang="en-US" sz="20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instances</a:t>
            </a:r>
            <a:r>
              <a:rPr lang="en-US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). </a:t>
            </a:r>
          </a:p>
          <a:p>
            <a:pPr lvl="1" algn="just"/>
            <a:r>
              <a:rPr lang="en-US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Instances may share the same variables (color, size, shape, etc.), but they do </a:t>
            </a:r>
            <a:r>
              <a:rPr lang="en-US" sz="20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 </a:t>
            </a:r>
            <a:r>
              <a:rPr lang="en-US" sz="20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share the same values for each variable (blue/red/pink, small/large, square/circular etc.)</a:t>
            </a:r>
          </a:p>
          <a:p>
            <a:pPr algn="just"/>
            <a:endParaRPr lang="en-US" sz="2000" dirty="0"/>
          </a:p>
        </p:txBody>
      </p:sp>
      <p:pic>
        <p:nvPicPr>
          <p:cNvPr id="1025" name="Picture 1" descr="page3image60866976">
            <a:extLst>
              <a:ext uri="{FF2B5EF4-FFF2-40B4-BE49-F238E27FC236}">
                <a16:creationId xmlns:a16="http://schemas.microsoft.com/office/drawing/2014/main" id="{3492707E-53E9-C04E-AF94-E1ED17B25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4115" y="2454092"/>
            <a:ext cx="3320716" cy="2326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C3514C9F-F4DA-2A4C-B8A6-F71DC4D25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58578"/>
            <a:ext cx="246286" cy="4924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CBF975-DEB6-FA47-8C0B-B8BCF20008B7}"/>
              </a:ext>
            </a:extLst>
          </p:cNvPr>
          <p:cNvSpPr txBox="1"/>
          <p:nvPr/>
        </p:nvSpPr>
        <p:spPr>
          <a:xfrm>
            <a:off x="9641491" y="2471580"/>
            <a:ext cx="1266693" cy="7696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67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Instance #1</a:t>
            </a:r>
          </a:p>
          <a:p>
            <a:r>
              <a:rPr lang="en-US" sz="1467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Color</a:t>
            </a:r>
            <a:r>
              <a:rPr lang="en-US" sz="1467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Pink</a:t>
            </a:r>
          </a:p>
          <a:p>
            <a:r>
              <a:rPr lang="en-US" sz="1467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Name</a:t>
            </a:r>
            <a:r>
              <a:rPr lang="en-US" sz="1467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Polo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9AA55F-F079-F046-AAA1-5C08CFB4D26D}"/>
              </a:ext>
            </a:extLst>
          </p:cNvPr>
          <p:cNvSpPr txBox="1"/>
          <p:nvPr/>
        </p:nvSpPr>
        <p:spPr>
          <a:xfrm>
            <a:off x="9609221" y="3273036"/>
            <a:ext cx="1266693" cy="7696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67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Instance #2</a:t>
            </a:r>
          </a:p>
          <a:p>
            <a:r>
              <a:rPr lang="en-US" sz="1467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Color</a:t>
            </a:r>
            <a:r>
              <a:rPr lang="en-US" sz="1467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Red</a:t>
            </a:r>
          </a:p>
          <a:p>
            <a:r>
              <a:rPr lang="en-US" sz="1467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Name</a:t>
            </a:r>
            <a:r>
              <a:rPr lang="en-US" sz="1467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Mini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9A8F26-5FD8-CB46-A8A8-498A1313E351}"/>
              </a:ext>
            </a:extLst>
          </p:cNvPr>
          <p:cNvSpPr txBox="1"/>
          <p:nvPr/>
        </p:nvSpPr>
        <p:spPr>
          <a:xfrm>
            <a:off x="9576949" y="4090743"/>
            <a:ext cx="1396536" cy="7696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67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Instance #3</a:t>
            </a:r>
          </a:p>
          <a:p>
            <a:r>
              <a:rPr lang="en-US" sz="1467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Color</a:t>
            </a:r>
            <a:r>
              <a:rPr lang="en-US" sz="1467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Blue</a:t>
            </a:r>
          </a:p>
          <a:p>
            <a:r>
              <a:rPr lang="en-US" sz="1467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Name</a:t>
            </a:r>
            <a:r>
              <a:rPr lang="en-US" sz="1467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Beetle</a:t>
            </a:r>
          </a:p>
        </p:txBody>
      </p:sp>
    </p:spTree>
    <p:extLst>
      <p:ext uri="{BB962C8B-B14F-4D97-AF65-F5344CB8AC3E}">
        <p14:creationId xmlns:p14="http://schemas.microsoft.com/office/powerpoint/2010/main" val="593495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749BC-F0D7-0049-97F8-75A3CDEFC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Basic Syntax Rules 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EAAA1-1F8C-D641-8E40-9E40A8975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name of your variable (</a:t>
            </a:r>
            <a:r>
              <a:rPr lang="en-US" sz="1400" b="1" dirty="0" err="1">
                <a:solidFill>
                  <a:srgbClr val="8D64A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myInt</a:t>
            </a:r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etc.) is placed on the left of the “=“ operator. </a:t>
            </a:r>
          </a:p>
          <a:p>
            <a:pPr lvl="1"/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Most variable names are in </a:t>
            </a:r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camel case 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where the first word begins with a lowercase letter and any subsequent words are capitalized</a:t>
            </a:r>
          </a:p>
          <a:p>
            <a:pPr lvl="1"/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Variable names may also appear in </a:t>
            </a:r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snake case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where all words are lowercase, with underscores between words </a:t>
            </a:r>
          </a:p>
          <a:p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assignment operator (</a:t>
            </a:r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“=“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sets the variable name equal to the memory location where your value is found. </a:t>
            </a:r>
          </a:p>
          <a:p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value of your variable (</a:t>
            </a:r>
            <a:r>
              <a:rPr lang="en-US" sz="1400" b="1" dirty="0">
                <a:solidFill>
                  <a:srgbClr val="6091B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“Hello, World”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is placed on the right of the “=“ operator. </a:t>
            </a:r>
          </a:p>
          <a:p>
            <a:pPr lvl="1"/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type of this value does </a:t>
            </a:r>
            <a:r>
              <a:rPr lang="en-US" sz="1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 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need to be stated but its format must abide by a given object type (as shown). </a:t>
            </a:r>
          </a:p>
          <a:p>
            <a:endParaRPr lang="en-US" dirty="0"/>
          </a:p>
        </p:txBody>
      </p:sp>
      <p:pic>
        <p:nvPicPr>
          <p:cNvPr id="2050" name="Picture 2" descr="page4image54542912">
            <a:extLst>
              <a:ext uri="{FF2B5EF4-FFF2-40B4-BE49-F238E27FC236}">
                <a16:creationId xmlns:a16="http://schemas.microsoft.com/office/drawing/2014/main" id="{AE7717A7-829D-A047-9620-90F749E81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864" y="4566131"/>
            <a:ext cx="4258733" cy="179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C516021-2922-9A4D-BA26-398EE29C8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014" y="4480911"/>
            <a:ext cx="4258733" cy="19697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err="1">
                <a:solidFill>
                  <a:srgbClr val="8D64A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myString</a:t>
            </a:r>
            <a:r>
              <a:rPr lang="en-US" altLang="en-US" sz="2400" dirty="0">
                <a:solidFill>
                  <a:srgbClr val="8D64A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= </a:t>
            </a:r>
            <a:r>
              <a:rPr lang="en-US" altLang="en-US" sz="2400" dirty="0">
                <a:solidFill>
                  <a:srgbClr val="6091B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“Hello, World” </a:t>
            </a:r>
            <a:r>
              <a:rPr lang="en-US" altLang="en-US" sz="2400" dirty="0" err="1">
                <a:solidFill>
                  <a:srgbClr val="8D64A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myInt</a:t>
            </a:r>
            <a:r>
              <a:rPr lang="en-US" alt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= </a:t>
            </a:r>
            <a:r>
              <a:rPr lang="en-US" altLang="en-US" sz="2400" dirty="0">
                <a:solidFill>
                  <a:srgbClr val="6091B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</a:t>
            </a:r>
            <a:br>
              <a:rPr lang="en-US" alt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altLang="en-US" sz="2400" dirty="0" err="1">
                <a:solidFill>
                  <a:srgbClr val="8D64A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myFloat</a:t>
            </a:r>
            <a:r>
              <a:rPr lang="en-US" alt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= </a:t>
            </a:r>
            <a:r>
              <a:rPr lang="en-US" altLang="en-US" sz="2400" dirty="0">
                <a:solidFill>
                  <a:srgbClr val="6091B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7.0</a:t>
            </a:r>
            <a:br>
              <a:rPr lang="en-US" alt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altLang="en-US" sz="2400" dirty="0" err="1">
                <a:solidFill>
                  <a:srgbClr val="8D64A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myList</a:t>
            </a:r>
            <a:r>
              <a:rPr lang="en-US" alt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= </a:t>
            </a:r>
            <a:r>
              <a:rPr lang="en-US" altLang="en-US" sz="2400" dirty="0">
                <a:solidFill>
                  <a:srgbClr val="6091B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[7, 8, 9] </a:t>
            </a:r>
            <a:r>
              <a:rPr lang="en-US" altLang="en-US" sz="2400" dirty="0" err="1">
                <a:solidFill>
                  <a:srgbClr val="8D64A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myBoolean</a:t>
            </a:r>
            <a:r>
              <a:rPr lang="en-US" alt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= </a:t>
            </a:r>
            <a:r>
              <a:rPr lang="en-US" altLang="en-US" sz="2400" dirty="0">
                <a:solidFill>
                  <a:srgbClr val="6091B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true</a:t>
            </a:r>
            <a:r>
              <a:rPr lang="en-US" alt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altLang="en-US" sz="267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305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A4215-9D0A-6E44-9EDA-DBC9EE02B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Basic Syntax Rules 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8845F-1673-F344-9908-44B71768F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 Syntax </a:t>
            </a:r>
          </a:p>
          <a:p>
            <a:pPr lvl="1"/>
            <a:r>
              <a:rPr lang="en-US" sz="1333" b="1" dirty="0">
                <a:solidFill>
                  <a:srgbClr val="F8A81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</a:t>
            </a:r>
            <a:r>
              <a:rPr lang="en-US" sz="13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...: </a:t>
            </a:r>
            <a:r>
              <a:rPr lang="en-US" sz="13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indicates that you are defining a new function. </a:t>
            </a:r>
          </a:p>
          <a:p>
            <a:pPr lvl="1"/>
            <a:r>
              <a:rPr lang="en-US" sz="1333" b="1" dirty="0">
                <a:solidFill>
                  <a:srgbClr val="6091B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function() </a:t>
            </a:r>
            <a:r>
              <a:rPr lang="en-US" sz="13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refers to the name of your function. By convention, this name is typically lowercase and represents a verb/action. </a:t>
            </a:r>
          </a:p>
          <a:p>
            <a:pPr lvl="1"/>
            <a:r>
              <a:rPr lang="en-US" sz="1333" b="1" dirty="0" err="1">
                <a:solidFill>
                  <a:srgbClr val="A0CC3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a,b</a:t>
            </a:r>
            <a:r>
              <a:rPr lang="en-US" sz="1333" b="1" dirty="0">
                <a:solidFill>
                  <a:srgbClr val="A0CC3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refers to </a:t>
            </a:r>
            <a:r>
              <a:rPr lang="en-US" sz="13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parameters </a:t>
            </a:r>
            <a:r>
              <a:rPr lang="en-US" sz="13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(values or variables) that can be used within the statements of your function’s definition (......). If your function has no parameters, an empty parenthetical () is used. </a:t>
            </a:r>
          </a:p>
          <a:p>
            <a:pPr lvl="1"/>
            <a:r>
              <a:rPr lang="en-US" sz="13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en-US" sz="1333" b="1" dirty="0">
                <a:solidFill>
                  <a:srgbClr val="8D64A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return</a:t>
            </a:r>
            <a:r>
              <a:rPr lang="en-US" sz="13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statement is an optional statement that will return a value for your function to your original call. 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C51459-F977-854C-8FA3-A329B6CC8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041" y="5026820"/>
            <a:ext cx="246286" cy="4924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</p:txBody>
      </p:sp>
      <p:pic>
        <p:nvPicPr>
          <p:cNvPr id="3077" name="Picture 5" descr="page5image54627904">
            <a:extLst>
              <a:ext uri="{FF2B5EF4-FFF2-40B4-BE49-F238E27FC236}">
                <a16:creationId xmlns:a16="http://schemas.microsoft.com/office/drawing/2014/main" id="{E6E8F834-0D46-9040-8AAB-F1F1A477A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373" y="4572423"/>
            <a:ext cx="3810000" cy="1845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CB383AB-72C0-9646-AAAE-E5AE53E4281C}"/>
              </a:ext>
            </a:extLst>
          </p:cNvPr>
          <p:cNvSpPr/>
          <p:nvPr/>
        </p:nvSpPr>
        <p:spPr>
          <a:xfrm>
            <a:off x="4237515" y="4922283"/>
            <a:ext cx="3563692" cy="23081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133" dirty="0">
                <a:solidFill>
                  <a:srgbClr val="F8A81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</a:t>
            </a:r>
            <a:r>
              <a:rPr lang="en-US" altLang="en-US" sz="2133" dirty="0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2133" dirty="0">
                <a:solidFill>
                  <a:srgbClr val="6091B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</a:t>
            </a:r>
            <a:r>
              <a:rPr lang="en-US" altLang="en-US" sz="2133" dirty="0">
                <a:solidFill>
                  <a:srgbClr val="4270C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en-US" altLang="en-US" sz="2133" dirty="0">
                <a:solidFill>
                  <a:srgbClr val="A0CC3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a, b</a:t>
            </a:r>
            <a:r>
              <a:rPr lang="en-US" alt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133" dirty="0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en-US" altLang="en-US" sz="2133" dirty="0">
                <a:solidFill>
                  <a:srgbClr val="6DAA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...... </a:t>
            </a:r>
            <a:endParaRPr lang="en-US" altLang="en-US" sz="21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133" dirty="0">
                <a:solidFill>
                  <a:srgbClr val="FFBF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en-US" altLang="en-US" sz="2133" dirty="0">
                <a:solidFill>
                  <a:srgbClr val="8D64A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return</a:t>
            </a:r>
            <a:r>
              <a:rPr lang="en-US" altLang="en-US" sz="2133" dirty="0">
                <a:solidFill>
                  <a:srgbClr val="FFBF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2133" dirty="0">
                <a:solidFill>
                  <a:srgbClr val="A0CC3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</a:t>
            </a:r>
            <a:r>
              <a:rPr lang="en-US" altLang="en-US" sz="2133" dirty="0">
                <a:solidFill>
                  <a:srgbClr val="6DAA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+ </a:t>
            </a:r>
            <a:r>
              <a:rPr lang="en-US" altLang="en-US" sz="2133" dirty="0">
                <a:solidFill>
                  <a:srgbClr val="A0CC3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8000" dirty="0">
                <a:latin typeface="Arial" panose="020B0604020202020204" pitchFamily="34" charset="0"/>
              </a:rPr>
              <a:t>    </a:t>
            </a:r>
            <a:r>
              <a:rPr lang="en-US" altLang="en-US" sz="1467" dirty="0"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5801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00CDC-3B6E-A442-A660-18240E474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Basic Syntax Rules (cont.)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9BE5D-CDA0-8F46-AEFE-A50C53948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Calling a function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Call the function by referring to its name (</a:t>
            </a:r>
            <a:r>
              <a:rPr lang="en-US" b="1" dirty="0">
                <a:solidFill>
                  <a:srgbClr val="6091B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function()</a:t>
            </a:r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and by placing</a:t>
            </a:r>
            <a:b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any necessary arguments (</a:t>
            </a:r>
            <a:r>
              <a:rPr lang="en-US" b="1" dirty="0">
                <a:solidFill>
                  <a:srgbClr val="A0CC3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1, 2</a:t>
            </a:r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within the parenthesis separated by</a:t>
            </a:r>
            <a:b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commas. </a:t>
            </a:r>
            <a:r>
              <a:rPr lang="en-US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myValue</a:t>
            </a:r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= function(1, 2) 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you wish, you can set your function call equal to a variable (</a:t>
            </a:r>
            <a:r>
              <a:rPr lang="en-US" b="1" dirty="0" err="1">
                <a:solidFill>
                  <a:srgbClr val="F8A81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myValue</a:t>
            </a:r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). The value returned by the function will be assigned to your variable name. </a:t>
            </a:r>
          </a:p>
          <a:p>
            <a:endParaRPr lang="en-US" dirty="0"/>
          </a:p>
        </p:txBody>
      </p:sp>
      <p:pic>
        <p:nvPicPr>
          <p:cNvPr id="4097" name="Picture 1" descr="page5image54627712">
            <a:extLst>
              <a:ext uri="{FF2B5EF4-FFF2-40B4-BE49-F238E27FC236}">
                <a16:creationId xmlns:a16="http://schemas.microsoft.com/office/drawing/2014/main" id="{6FCDB6FF-512C-044F-9E68-9A0F20212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534" y="4669433"/>
            <a:ext cx="4588933" cy="142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D64E953-9527-1249-A9F0-39B6AEC9E033}"/>
              </a:ext>
            </a:extLst>
          </p:cNvPr>
          <p:cNvSpPr/>
          <p:nvPr/>
        </p:nvSpPr>
        <p:spPr>
          <a:xfrm>
            <a:off x="4210655" y="5134413"/>
            <a:ext cx="37147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F8A81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myValue</a:t>
            </a:r>
            <a:r>
              <a:rPr lang="en-US" sz="2400" dirty="0">
                <a:solidFill>
                  <a:srgbClr val="FFBF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= </a:t>
            </a:r>
            <a:r>
              <a:rPr lang="en-US" sz="2400" dirty="0">
                <a:solidFill>
                  <a:srgbClr val="6091B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</a:t>
            </a:r>
            <a:r>
              <a:rPr lang="en-US" sz="2400" dirty="0">
                <a:solidFill>
                  <a:srgbClr val="4270C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en-US" sz="2400" dirty="0">
                <a:solidFill>
                  <a:srgbClr val="A0CC3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1, 2</a:t>
            </a:r>
            <a:r>
              <a:rPr lang="en-US" sz="2400" dirty="0">
                <a:solidFill>
                  <a:srgbClr val="4270C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</a:t>
            </a:r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393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37352-2674-DF4B-BF65-3D11D810A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Common Data Types and Operators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D65EB-F336-4844-BDF9-237B335AA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type 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 a means of classifying a value and determining what operations can be performed on it. All objects have a data type. </a:t>
            </a:r>
          </a:p>
          <a:p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Operators 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are symbols used carry out specific functions/computations. </a:t>
            </a:r>
          </a:p>
          <a:p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2"/>
              </a:rPr>
              <a:t>https://www.youtube.com/watch?v=v5MR5JnKcZI</a:t>
            </a:r>
            <a:endParaRPr lang="en-US" sz="21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21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52396" indent="0">
              <a:buNone/>
            </a:pPr>
            <a:endParaRPr lang="en-US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/>
          </a:p>
        </p:txBody>
      </p:sp>
      <p:pic>
        <p:nvPicPr>
          <p:cNvPr id="6145" name="Picture 1" descr="page6image60921744">
            <a:extLst>
              <a:ext uri="{FF2B5EF4-FFF2-40B4-BE49-F238E27FC236}">
                <a16:creationId xmlns:a16="http://schemas.microsoft.com/office/drawing/2014/main" id="{9205AA22-D85D-1C4A-B101-647599D5F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073" y="3496777"/>
            <a:ext cx="4106779" cy="2767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page6image60925696">
            <a:extLst>
              <a:ext uri="{FF2B5EF4-FFF2-40B4-BE49-F238E27FC236}">
                <a16:creationId xmlns:a16="http://schemas.microsoft.com/office/drawing/2014/main" id="{16522D70-7EE3-EA4E-8A77-D3A19E62A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3504364"/>
            <a:ext cx="4539916" cy="2760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94832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7E9B8-C62C-824D-B5C2-8200FA3EA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66104"/>
            <a:ext cx="11360800" cy="763600"/>
          </a:xfrm>
        </p:spPr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Input/Output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8EB5B-850B-524B-A783-5F5A10554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7220443" cy="4555200"/>
          </a:xfrm>
        </p:spPr>
        <p:txBody>
          <a:bodyPr/>
          <a:lstStyle/>
          <a:p>
            <a:r>
              <a:rPr lang="en-US" sz="1467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Input functions </a:t>
            </a:r>
            <a:r>
              <a:rPr lang="en-US" sz="1467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en-US" sz="1467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input()</a:t>
            </a:r>
            <a:r>
              <a:rPr lang="en-US" sz="1467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allow users of a program to place values into programming code. </a:t>
            </a:r>
          </a:p>
          <a:p>
            <a:pPr lvl="1"/>
            <a:r>
              <a:rPr lang="en-US" sz="1467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parameter for an input function is called a </a:t>
            </a:r>
            <a:r>
              <a:rPr lang="en-US" sz="1467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prompt</a:t>
            </a:r>
            <a:r>
              <a:rPr lang="en-US" sz="1467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This is a string (this can be indicated by “” or ‘’) such as </a:t>
            </a:r>
            <a:r>
              <a:rPr lang="en-US" sz="1467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“Enter a number: “ </a:t>
            </a:r>
            <a:endParaRPr lang="en-US" sz="1467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/>
            <a:r>
              <a:rPr lang="en-US" sz="1467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user’s response to the prompt will be returned to the input statement call as a string. To use this value as any other data type, it must be converted with another function (</a:t>
            </a:r>
            <a:r>
              <a:rPr lang="en-US" sz="1467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int()</a:t>
            </a:r>
            <a:r>
              <a:rPr lang="en-US" sz="1467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). </a:t>
            </a:r>
          </a:p>
          <a:p>
            <a:r>
              <a:rPr lang="en-US" sz="1467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Print functions </a:t>
            </a:r>
            <a:r>
              <a:rPr lang="en-US" sz="1467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en-US" sz="1467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print()</a:t>
            </a:r>
            <a:r>
              <a:rPr lang="en-US" sz="1467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allow programs to output strings to users on a given interface. </a:t>
            </a:r>
          </a:p>
          <a:p>
            <a:pPr lvl="1"/>
            <a:r>
              <a:rPr lang="en-US" sz="1467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parameter of this function is of any type. All types will automatically be converted to strings. </a:t>
            </a:r>
          </a:p>
          <a:p>
            <a:endParaRPr lang="en-US" dirty="0"/>
          </a:p>
        </p:txBody>
      </p:sp>
      <p:pic>
        <p:nvPicPr>
          <p:cNvPr id="7169" name="Picture 1" descr="page7image54530944">
            <a:extLst>
              <a:ext uri="{FF2B5EF4-FFF2-40B4-BE49-F238E27FC236}">
                <a16:creationId xmlns:a16="http://schemas.microsoft.com/office/drawing/2014/main" id="{8E127A73-C6F7-1549-B707-790318628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6043" y="2457417"/>
            <a:ext cx="4517863" cy="1943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BB17BBD-9720-B44A-B9C2-CDE2E04B22BF}"/>
              </a:ext>
            </a:extLst>
          </p:cNvPr>
          <p:cNvSpPr/>
          <p:nvPr/>
        </p:nvSpPr>
        <p:spPr>
          <a:xfrm>
            <a:off x="7636043" y="2792927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xString</a:t>
            </a:r>
            <a:r>
              <a:rPr lang="en-US" alt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= </a:t>
            </a:r>
            <a:r>
              <a:rPr lang="en-US" altLang="en-US" sz="2400" dirty="0">
                <a:solidFill>
                  <a:srgbClr val="8D64A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input(</a:t>
            </a:r>
            <a:r>
              <a:rPr lang="en-US" altLang="en-US" sz="2400" dirty="0">
                <a:solidFill>
                  <a:srgbClr val="6091B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“Enter a number: “</a:t>
            </a:r>
            <a:r>
              <a:rPr lang="en-US" altLang="en-US" sz="2400" dirty="0">
                <a:solidFill>
                  <a:srgbClr val="8D64A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 = </a:t>
            </a:r>
            <a:r>
              <a:rPr lang="en-US" altLang="en-US" sz="2400" dirty="0">
                <a:solidFill>
                  <a:srgbClr val="A0CC3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</a:t>
            </a:r>
            <a:r>
              <a:rPr lang="en-US" altLang="en-US" sz="2400" dirty="0">
                <a:solidFill>
                  <a:srgbClr val="6DAA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en-US" altLang="en-US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xString</a:t>
            </a:r>
            <a:r>
              <a:rPr lang="en-US" altLang="en-US" sz="2400" dirty="0">
                <a:solidFill>
                  <a:srgbClr val="6DAA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br>
              <a:rPr lang="en-US" altLang="en-US" sz="2400" dirty="0">
                <a:solidFill>
                  <a:srgbClr val="6DAA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alt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y=x+2</a:t>
            </a:r>
            <a:br>
              <a:rPr lang="en-US" alt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altLang="en-US" sz="2400" dirty="0">
                <a:solidFill>
                  <a:srgbClr val="F8A81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print</a:t>
            </a:r>
            <a:r>
              <a:rPr lang="en-US" alt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(y</a:t>
            </a:r>
            <a:r>
              <a:rPr lang="en-US" altLang="en-US" sz="2400" dirty="0">
                <a:solidFill>
                  <a:srgbClr val="F8A81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endParaRPr lang="en-US" altLang="en-US" sz="267" dirty="0">
              <a:solidFill>
                <a:srgbClr val="F8A81B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3198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3293A-4FC8-424F-811B-1CEAEA5C2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If-else Statements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55E2D-A97A-3048-B5EE-2975CF52F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7653579" cy="4555200"/>
          </a:xfrm>
        </p:spPr>
        <p:txBody>
          <a:bodyPr/>
          <a:lstStyle/>
          <a:p>
            <a:r>
              <a:rPr lang="en-US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If-else statements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allow programmers to adapt the function of their code based on a given condition. </a:t>
            </a:r>
          </a:p>
          <a:p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a given condition (i.e</a:t>
            </a:r>
            <a:r>
              <a:rPr lang="en-US" sz="1600" dirty="0">
                <a:solidFill>
                  <a:srgbClr val="6091B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1600" b="1" dirty="0">
                <a:solidFill>
                  <a:srgbClr val="6091B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 % 2 == 0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is true, then the statements following the if statement (</a:t>
            </a:r>
            <a:r>
              <a:rPr lang="en-US" sz="1600" b="1" dirty="0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will be executed. If the condition is false, the statements following the else statement (</a:t>
            </a:r>
            <a:r>
              <a:rPr lang="en-US" sz="1600" b="1" dirty="0">
                <a:solidFill>
                  <a:srgbClr val="8D64A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else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will be executed. </a:t>
            </a:r>
          </a:p>
          <a:p>
            <a:pPr lvl="1"/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condition is tested using the Boolean operators </a:t>
            </a:r>
            <a:r>
              <a:rPr lang="en-US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==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(is equal to), </a:t>
            </a:r>
            <a:r>
              <a:rPr lang="en-US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!=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(is not equal to), </a:t>
            </a:r>
            <a:r>
              <a:rPr lang="en-US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(used to test multiple conditions), and </a:t>
            </a:r>
            <a:r>
              <a:rPr lang="en-US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(used to test if </a:t>
            </a:r>
            <a:r>
              <a:rPr lang="en-US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 LEAST ONE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condition is true). </a:t>
            </a:r>
          </a:p>
          <a:p>
            <a:pPr lvl="1"/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Additionally, </a:t>
            </a:r>
            <a:r>
              <a:rPr lang="en-US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else-if statements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en-US" sz="1600" b="1" dirty="0" err="1">
                <a:solidFill>
                  <a:srgbClr val="A0CC3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elif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can be used to provide unique coding statements for multiple conditions. </a:t>
            </a:r>
          </a:p>
          <a:p>
            <a:endParaRPr lang="en-US" dirty="0"/>
          </a:p>
        </p:txBody>
      </p:sp>
      <p:pic>
        <p:nvPicPr>
          <p:cNvPr id="8196" name="Picture 4" descr="page8image54900032">
            <a:extLst>
              <a:ext uri="{FF2B5EF4-FFF2-40B4-BE49-F238E27FC236}">
                <a16:creationId xmlns:a16="http://schemas.microsoft.com/office/drawing/2014/main" id="{31CAE7BF-C0EC-7240-9EAB-E6D9AA276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179" y="2101516"/>
            <a:ext cx="4030604" cy="321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E193EE9-F929-1D44-9299-78756C2D6495}"/>
              </a:ext>
            </a:extLst>
          </p:cNvPr>
          <p:cNvSpPr/>
          <p:nvPr/>
        </p:nvSpPr>
        <p:spPr>
          <a:xfrm>
            <a:off x="8161397" y="2505670"/>
            <a:ext cx="403060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 err="1">
                <a:latin typeface="Calibri" panose="020F0502020204030204" pitchFamily="34" charset="0"/>
              </a:rPr>
              <a:t>xString</a:t>
            </a:r>
            <a:r>
              <a:rPr lang="en-US" altLang="en-US" sz="2000" dirty="0">
                <a:latin typeface="Calibri" panose="020F0502020204030204" pitchFamily="34" charset="0"/>
              </a:rPr>
              <a:t> = input(“Enter a number: “)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Calibri" panose="020F0502020204030204" pitchFamily="34" charset="0"/>
              </a:rPr>
              <a:t>x = int(</a:t>
            </a:r>
            <a:r>
              <a:rPr lang="en-US" altLang="en-US" sz="2000" dirty="0" err="1">
                <a:latin typeface="Calibri" panose="020F0502020204030204" pitchFamily="34" charset="0"/>
              </a:rPr>
              <a:t>xString</a:t>
            </a:r>
            <a:r>
              <a:rPr lang="en-US" altLang="en-US" sz="2000" dirty="0">
                <a:latin typeface="Calibri" panose="020F0502020204030204" pitchFamily="34" charset="0"/>
              </a:rPr>
              <a:t>) </a:t>
            </a:r>
            <a:endParaRPr lang="en-US" altLang="en-US" sz="2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rgbClr val="F8A81B"/>
                </a:solidFill>
                <a:latin typeface="Calibri" panose="020F0502020204030204" pitchFamily="34" charset="0"/>
              </a:rPr>
              <a:t>if</a:t>
            </a: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en-US" altLang="en-US" sz="2000" dirty="0">
                <a:solidFill>
                  <a:srgbClr val="6091BA"/>
                </a:solidFill>
                <a:latin typeface="Calibri" panose="020F0502020204030204" pitchFamily="34" charset="0"/>
              </a:rPr>
              <a:t>x % 2 == 0</a:t>
            </a: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</a:rPr>
              <a:t>:</a:t>
            </a:r>
            <a:b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</a:rPr>
            </a:b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</a:rPr>
              <a:t>    </a:t>
            </a:r>
            <a:r>
              <a:rPr lang="en-US" altLang="en-US" sz="2000" dirty="0">
                <a:latin typeface="Calibri" panose="020F0502020204030204" pitchFamily="34" charset="0"/>
              </a:rPr>
              <a:t>print(“This is an even number”) </a:t>
            </a:r>
            <a:endParaRPr lang="en-US" altLang="en-US" sz="2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 err="1">
                <a:solidFill>
                  <a:srgbClr val="A0CC3A"/>
                </a:solidFill>
                <a:latin typeface="Calibri" panose="020F0502020204030204" pitchFamily="34" charset="0"/>
              </a:rPr>
              <a:t>elif</a:t>
            </a:r>
            <a:r>
              <a:rPr lang="en-US" altLang="en-US" sz="2000" dirty="0">
                <a:solidFill>
                  <a:srgbClr val="6DAA44"/>
                </a:solidFill>
                <a:latin typeface="Calibri" panose="020F0502020204030204" pitchFamily="34" charset="0"/>
              </a:rPr>
              <a:t> </a:t>
            </a:r>
            <a:r>
              <a:rPr lang="en-US" altLang="en-US" sz="2000" dirty="0">
                <a:solidFill>
                  <a:srgbClr val="6091BA"/>
                </a:solidFill>
                <a:latin typeface="Calibri" panose="020F0502020204030204" pitchFamily="34" charset="0"/>
              </a:rPr>
              <a:t>x == 0</a:t>
            </a:r>
            <a:r>
              <a:rPr lang="en-US" altLang="en-US" sz="2000" dirty="0">
                <a:solidFill>
                  <a:srgbClr val="6DAA44"/>
                </a:solidFill>
                <a:latin typeface="Calibri" panose="020F0502020204030204" pitchFamily="34" charset="0"/>
              </a:rPr>
              <a:t>:</a:t>
            </a:r>
            <a:br>
              <a:rPr lang="en-US" altLang="en-US" sz="2000" dirty="0">
                <a:solidFill>
                  <a:srgbClr val="6DAA44"/>
                </a:solidFill>
                <a:latin typeface="Calibri" panose="020F0502020204030204" pitchFamily="34" charset="0"/>
              </a:rPr>
            </a:br>
            <a:r>
              <a:rPr lang="en-US" altLang="en-US" sz="2000" dirty="0">
                <a:solidFill>
                  <a:srgbClr val="6DAA44"/>
                </a:solidFill>
                <a:latin typeface="Calibri" panose="020F0502020204030204" pitchFamily="34" charset="0"/>
              </a:rPr>
              <a:t>    </a:t>
            </a:r>
            <a:r>
              <a:rPr lang="en-US" altLang="en-US" sz="2000" dirty="0">
                <a:latin typeface="Calibri" panose="020F0502020204030204" pitchFamily="34" charset="0"/>
              </a:rPr>
              <a:t>print(“This number equals 0”)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rgbClr val="8D64AA"/>
                </a:solidFill>
                <a:latin typeface="Calibri" panose="020F0502020204030204" pitchFamily="34" charset="0"/>
              </a:rPr>
              <a:t>else</a:t>
            </a:r>
            <a:r>
              <a:rPr lang="en-US" altLang="en-US" sz="2000" dirty="0">
                <a:latin typeface="Calibri" panose="020F0502020204030204" pitchFamily="34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Calibri" panose="020F0502020204030204" pitchFamily="34" charset="0"/>
              </a:rPr>
              <a:t>    print(“This is an odd number”)</a:t>
            </a:r>
          </a:p>
        </p:txBody>
      </p:sp>
    </p:spTree>
    <p:extLst>
      <p:ext uri="{BB962C8B-B14F-4D97-AF65-F5344CB8AC3E}">
        <p14:creationId xmlns:p14="http://schemas.microsoft.com/office/powerpoint/2010/main" val="3746593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4CE96-D4C0-E84E-852F-DA601A501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Loops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828D5-3480-914E-8398-85A5F53BA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7006280" cy="4555200"/>
          </a:xfrm>
        </p:spPr>
        <p:txBody>
          <a:bodyPr/>
          <a:lstStyle/>
          <a:p>
            <a:r>
              <a:rPr lang="en-US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loops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perform the same task (iterate) for the number of times specified by an </a:t>
            </a:r>
            <a:r>
              <a:rPr lang="en-US" sz="16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iterable</a:t>
            </a:r>
            <a:r>
              <a:rPr lang="en-US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(something that can be evaluated repeatedly such as a list, string, or range). </a:t>
            </a:r>
          </a:p>
          <a:p>
            <a:r>
              <a:rPr lang="en-US" sz="1600" b="1" dirty="0">
                <a:solidFill>
                  <a:srgbClr val="F8A81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</a:t>
            </a:r>
            <a:r>
              <a:rPr lang="en-US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defines the for loop </a:t>
            </a:r>
          </a:p>
          <a:p>
            <a:r>
              <a:rPr lang="en-US" sz="1600" b="1" dirty="0">
                <a:solidFill>
                  <a:srgbClr val="6091B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</a:t>
            </a:r>
            <a:r>
              <a:rPr lang="en-US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 the variable defining the number of times the statements within the loop (</a:t>
            </a:r>
            <a:r>
              <a:rPr lang="en-US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print(</a:t>
            </a:r>
            <a:r>
              <a:rPr lang="en-US" sz="16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myInt</a:t>
            </a:r>
            <a:r>
              <a:rPr lang="en-US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are executed. </a:t>
            </a:r>
          </a:p>
          <a:p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en-US" sz="1600" b="1" dirty="0">
                <a:solidFill>
                  <a:srgbClr val="A0CC3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range(start, stop, step)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 is often used to define x. </a:t>
            </a:r>
          </a:p>
          <a:p>
            <a:pPr lvl="1"/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starting value is defined by </a:t>
            </a:r>
            <a:r>
              <a:rPr lang="en-US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start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the final value is defined by </a:t>
            </a:r>
            <a:r>
              <a:rPr lang="en-US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stop – 1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and the magnitude at which x changes between loops is defined by </a:t>
            </a:r>
            <a:r>
              <a:rPr lang="en-US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step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r>
              <a:rPr lang="en-US" sz="1600" b="1" dirty="0">
                <a:solidFill>
                  <a:srgbClr val="8D64A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</a:t>
            </a:r>
            <a:r>
              <a:rPr lang="en-US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 a Boolean operator that returns true if the given value (x) is found within a given list, string, range etc. </a:t>
            </a:r>
          </a:p>
          <a:p>
            <a:pPr marL="152396" indent="0">
              <a:buNone/>
            </a:pPr>
            <a:endParaRPr lang="en-US" dirty="0"/>
          </a:p>
        </p:txBody>
      </p:sp>
      <p:pic>
        <p:nvPicPr>
          <p:cNvPr id="5121" name="Picture 1" descr="page9image54538048">
            <a:extLst>
              <a:ext uri="{FF2B5EF4-FFF2-40B4-BE49-F238E27FC236}">
                <a16:creationId xmlns:a16="http://schemas.microsoft.com/office/drawing/2014/main" id="{AF910E46-C2F4-5045-B879-F4ED75C09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881" y="2255519"/>
            <a:ext cx="4354520" cy="3065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131DBA79-D30C-594C-AA12-3A5029B17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1882" y="2775908"/>
            <a:ext cx="4265294" cy="25853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myString</a:t>
            </a:r>
            <a:r>
              <a:rPr lang="en-US" alt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= input(“Enter a number: “) </a:t>
            </a: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myInt</a:t>
            </a:r>
            <a:r>
              <a:rPr lang="en-US" alt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= int(</a:t>
            </a:r>
            <a:r>
              <a:rPr lang="en-US" altLang="en-US" sz="2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myString</a:t>
            </a:r>
            <a:r>
              <a:rPr lang="en-US" alt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</a:t>
            </a: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rgbClr val="F8A81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</a:t>
            </a:r>
            <a:r>
              <a:rPr lang="en-US" altLang="en-US" sz="2000" dirty="0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2000" dirty="0">
                <a:solidFill>
                  <a:srgbClr val="6091B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</a:t>
            </a:r>
            <a:r>
              <a:rPr lang="en-US" altLang="en-US" sz="2000" dirty="0">
                <a:solidFill>
                  <a:srgbClr val="4270C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2000" dirty="0">
                <a:solidFill>
                  <a:srgbClr val="8D64A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</a:t>
            </a:r>
            <a:r>
              <a:rPr lang="en-US" altLang="en-US" sz="2000" dirty="0">
                <a:solidFill>
                  <a:srgbClr val="FFBF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2000" dirty="0">
                <a:solidFill>
                  <a:srgbClr val="A0CC3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range(0, 5, 1): </a:t>
            </a:r>
            <a:r>
              <a:rPr lang="en-US" alt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print(</a:t>
            </a:r>
            <a:r>
              <a:rPr lang="en-US" altLang="en-US" sz="2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myInt</a:t>
            </a:r>
            <a:r>
              <a:rPr lang="en-US" alt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</a:t>
            </a: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8742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page10image54649088">
            <a:extLst>
              <a:ext uri="{FF2B5EF4-FFF2-40B4-BE49-F238E27FC236}">
                <a16:creationId xmlns:a16="http://schemas.microsoft.com/office/drawing/2014/main" id="{74E84D9E-7A66-994A-886A-38290CB5F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5514" y="519765"/>
            <a:ext cx="4200887" cy="2909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A4C872-FBB5-8144-AF2A-BC5CB801B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While Loops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9AA48-964A-2E45-BF2B-8753FA506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1" y="1536633"/>
            <a:ext cx="6408753" cy="4555200"/>
          </a:xfrm>
        </p:spPr>
        <p:txBody>
          <a:bodyPr/>
          <a:lstStyle/>
          <a:p>
            <a:r>
              <a:rPr lang="en-US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While loops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are statements that iterate so long as a given Boolean condition is met. </a:t>
            </a:r>
          </a:p>
          <a:p>
            <a:pPr lvl="1"/>
            <a:r>
              <a:rPr lang="en-US" sz="1600" b="1" dirty="0">
                <a:solidFill>
                  <a:srgbClr val="F8A81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</a:t>
            </a:r>
            <a:r>
              <a:rPr lang="en-US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(the variable determining whether or not the condition is met) is defined and manipulated </a:t>
            </a:r>
            <a:r>
              <a:rPr lang="en-US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OUTSIDE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 the header of the while loop (</a:t>
            </a:r>
            <a:r>
              <a:rPr lang="en-US" sz="1600" b="1" dirty="0">
                <a:solidFill>
                  <a:srgbClr val="6091B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while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</a:t>
            </a:r>
          </a:p>
          <a:p>
            <a:pPr lvl="1"/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condition (</a:t>
            </a:r>
            <a:r>
              <a:rPr lang="en-US" sz="1600" b="1" dirty="0">
                <a:solidFill>
                  <a:srgbClr val="A0CC3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 &lt; 5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is a statement containing a Boolean variable. </a:t>
            </a:r>
          </a:p>
          <a:p>
            <a:pPr lvl="1"/>
            <a:r>
              <a:rPr lang="en-US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break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 a statement used to exit the current for/while loop. </a:t>
            </a:r>
          </a:p>
          <a:p>
            <a:pPr lvl="1"/>
            <a:r>
              <a:rPr lang="en-US" sz="1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continue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 a statement used to reject all statements in the current for/while loop iteration and return to the beginning of the loop. </a:t>
            </a:r>
          </a:p>
          <a:p>
            <a:endParaRPr lang="en-US" dirty="0"/>
          </a:p>
        </p:txBody>
      </p:sp>
      <p:pic>
        <p:nvPicPr>
          <p:cNvPr id="9217" name="Picture 1" descr="page10image60862240">
            <a:extLst>
              <a:ext uri="{FF2B5EF4-FFF2-40B4-BE49-F238E27FC236}">
                <a16:creationId xmlns:a16="http://schemas.microsoft.com/office/drawing/2014/main" id="{B54A8FAD-4463-BB43-85BB-7BE32BB26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7174" y="3814233"/>
            <a:ext cx="4227616" cy="2941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4247965-3E5F-3846-82DC-7FCE1E7DD796}"/>
              </a:ext>
            </a:extLst>
          </p:cNvPr>
          <p:cNvSpPr/>
          <p:nvPr/>
        </p:nvSpPr>
        <p:spPr>
          <a:xfrm>
            <a:off x="7575514" y="751344"/>
            <a:ext cx="391093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Calibri" panose="020F0502020204030204" pitchFamily="34" charset="0"/>
              </a:rPr>
              <a:t>myString</a:t>
            </a:r>
            <a:r>
              <a:rPr lang="en-US" sz="2400" dirty="0">
                <a:latin typeface="Calibri" panose="020F0502020204030204" pitchFamily="34" charset="0"/>
              </a:rPr>
              <a:t> = input(“Enter a number: “) </a:t>
            </a:r>
          </a:p>
          <a:p>
            <a:r>
              <a:rPr lang="en-US" sz="2400" dirty="0" err="1">
                <a:latin typeface="Calibri" panose="020F0502020204030204" pitchFamily="34" charset="0"/>
              </a:rPr>
              <a:t>myInt</a:t>
            </a:r>
            <a:r>
              <a:rPr lang="en-US" sz="2400" dirty="0">
                <a:latin typeface="Calibri" panose="020F0502020204030204" pitchFamily="34" charset="0"/>
              </a:rPr>
              <a:t> = int(</a:t>
            </a:r>
            <a:r>
              <a:rPr lang="en-US" sz="2400" dirty="0" err="1">
                <a:latin typeface="Calibri" panose="020F0502020204030204" pitchFamily="34" charset="0"/>
              </a:rPr>
              <a:t>myString</a:t>
            </a:r>
            <a:r>
              <a:rPr lang="en-US" sz="2400" dirty="0">
                <a:latin typeface="Calibri" panose="020F0502020204030204" pitchFamily="34" charset="0"/>
              </a:rPr>
              <a:t>) </a:t>
            </a:r>
            <a:endParaRPr lang="en-US" sz="2400" dirty="0"/>
          </a:p>
          <a:p>
            <a:r>
              <a:rPr lang="en-US" sz="2400" dirty="0">
                <a:solidFill>
                  <a:srgbClr val="F8A81B"/>
                </a:solidFill>
                <a:latin typeface="Calibri" panose="020F0502020204030204" pitchFamily="34" charset="0"/>
              </a:rPr>
              <a:t>x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</a:rPr>
              <a:t>= 0</a:t>
            </a:r>
            <a:br>
              <a:rPr lang="en-US" sz="2400" dirty="0">
                <a:latin typeface="Calibri" panose="020F0502020204030204" pitchFamily="34" charset="0"/>
              </a:rPr>
            </a:br>
            <a:r>
              <a:rPr lang="en-US" sz="2400" dirty="0">
                <a:solidFill>
                  <a:srgbClr val="6091BA"/>
                </a:solidFill>
                <a:latin typeface="Calibri" panose="020F0502020204030204" pitchFamily="34" charset="0"/>
              </a:rPr>
              <a:t>while</a:t>
            </a:r>
            <a:r>
              <a:rPr lang="en-US" sz="2400" dirty="0">
                <a:solidFill>
                  <a:srgbClr val="4270C1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>
                <a:solidFill>
                  <a:srgbClr val="A0CC3A"/>
                </a:solidFill>
                <a:latin typeface="Calibri" panose="020F0502020204030204" pitchFamily="34" charset="0"/>
              </a:rPr>
              <a:t>x &lt; 5</a:t>
            </a:r>
            <a:r>
              <a:rPr lang="en-US" sz="2400" dirty="0">
                <a:solidFill>
                  <a:srgbClr val="4270C1"/>
                </a:solidFill>
                <a:latin typeface="Calibri" panose="020F0502020204030204" pitchFamily="34" charset="0"/>
              </a:rPr>
              <a:t>: </a:t>
            </a:r>
            <a:endParaRPr lang="en-US" sz="2400" dirty="0"/>
          </a:p>
          <a:p>
            <a:r>
              <a:rPr lang="en-US" sz="2400" dirty="0">
                <a:latin typeface="Calibri" panose="020F0502020204030204" pitchFamily="34" charset="0"/>
              </a:rPr>
              <a:t>    print(</a:t>
            </a:r>
            <a:r>
              <a:rPr lang="en-US" sz="2400" dirty="0" err="1">
                <a:latin typeface="Calibri" panose="020F0502020204030204" pitchFamily="34" charset="0"/>
              </a:rPr>
              <a:t>myInt</a:t>
            </a:r>
            <a:r>
              <a:rPr lang="en-US" sz="2400" dirty="0">
                <a:latin typeface="Calibri" panose="020F0502020204030204" pitchFamily="34" charset="0"/>
              </a:rPr>
              <a:t>) </a:t>
            </a:r>
          </a:p>
          <a:p>
            <a:r>
              <a:rPr lang="en-US" sz="2400" dirty="0">
                <a:latin typeface="Calibri" panose="020F0502020204030204" pitchFamily="34" charset="0"/>
              </a:rPr>
              <a:t>    x= x +1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321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>
            <a:extLst>
              <a:ext uri="{FF2B5EF4-FFF2-40B4-BE49-F238E27FC236}">
                <a16:creationId xmlns:a16="http://schemas.microsoft.com/office/drawing/2014/main" id="{B558CED4-5668-DC60-AA50-D0DBC8DC46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3786" y="365125"/>
            <a:ext cx="10600014" cy="1325563"/>
          </a:xfrm>
        </p:spPr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The Python Interpreter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D695DCA6-7F6C-9878-92BA-2E9BCD6A69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1" y="2200274"/>
            <a:ext cx="9505950" cy="435292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80000"/>
              </a:lnSpc>
            </a:pPr>
            <a:r>
              <a:rPr lang="en-US" altLang="en-US" sz="32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Typical Python implementations offer both an interpreter and compiler.</a:t>
            </a:r>
          </a:p>
          <a:p>
            <a:pPr algn="just">
              <a:lnSpc>
                <a:spcPct val="80000"/>
              </a:lnSpc>
            </a:pPr>
            <a:endParaRPr lang="en-US" altLang="en-US" sz="32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en-US" sz="32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Interactive interface to Python with a read-eval-print loop</a:t>
            </a:r>
          </a:p>
          <a:p>
            <a:pPr algn="just">
              <a:lnSpc>
                <a:spcPct val="80000"/>
              </a:lnSpc>
            </a:pPr>
            <a:endParaRPr lang="en-US" altLang="en-US" sz="8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marL="119063" lvl="2" indent="0" algn="just">
              <a:lnSpc>
                <a:spcPct val="80000"/>
              </a:lnSpc>
              <a:buNone/>
            </a:pPr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marL="119063" lvl="2" indent="0" algn="just">
              <a:lnSpc>
                <a:spcPct val="80000"/>
              </a:lnSpc>
              <a:buNone/>
            </a:pPr>
            <a:r>
              <a:rPr lang="en-US" altLang="en-US" sz="22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 </a:t>
            </a:r>
            <a:r>
              <a:rPr lang="en-US" altLang="en-US" sz="2200" b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def square(x):</a:t>
            </a:r>
          </a:p>
          <a:p>
            <a:pPr marL="119063" lvl="2" indent="0" algn="just">
              <a:lnSpc>
                <a:spcPct val="80000"/>
              </a:lnSpc>
              <a:buNone/>
            </a:pPr>
            <a:r>
              <a:rPr lang="en-US" altLang="en-US" sz="22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...   </a:t>
            </a:r>
            <a:r>
              <a:rPr lang="en-US" altLang="en-US" sz="2200" b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return x * x</a:t>
            </a:r>
          </a:p>
          <a:p>
            <a:pPr marL="119063" lvl="2" indent="0" algn="just">
              <a:lnSpc>
                <a:spcPct val="80000"/>
              </a:lnSpc>
              <a:buNone/>
            </a:pPr>
            <a:r>
              <a:rPr lang="en-US" altLang="en-US" sz="22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... </a:t>
            </a:r>
          </a:p>
          <a:p>
            <a:pPr marL="119063" lvl="2" indent="0" algn="just">
              <a:lnSpc>
                <a:spcPct val="80000"/>
              </a:lnSpc>
              <a:buNone/>
            </a:pPr>
            <a:r>
              <a:rPr lang="en-US" altLang="en-US" sz="22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 </a:t>
            </a:r>
            <a:r>
              <a:rPr lang="en-US" altLang="en-US" sz="2200" b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map(square, [1, 2, 3, 4])</a:t>
            </a:r>
          </a:p>
          <a:p>
            <a:pPr marL="119063" lvl="2" indent="0" algn="just">
              <a:lnSpc>
                <a:spcPct val="80000"/>
              </a:lnSpc>
              <a:buNone/>
            </a:pPr>
            <a:r>
              <a:rPr lang="en-US" altLang="en-US" sz="22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[1, 4, 9, 16]</a:t>
            </a:r>
          </a:p>
          <a:p>
            <a:pPr marL="119063" lvl="2" indent="0" algn="just">
              <a:lnSpc>
                <a:spcPct val="80000"/>
              </a:lnSpc>
              <a:buNone/>
            </a:pPr>
            <a:r>
              <a:rPr lang="en-US" altLang="en-US" sz="22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17C38-C4FC-45B5-DD5E-AE908D64A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  <a:ea typeface="ＭＳ Ｐゴシック" panose="020B0600070205080204" pitchFamily="34" charset="-128"/>
              </a:rPr>
              <a:t>Installing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8783BD65-45D3-0506-11BB-F327657A8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9800" y="1295400"/>
            <a:ext cx="8001000" cy="53340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Python is pre-installed on most Unix systems, including Linux and MAC OS X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The pre-installed version may not be the most recent one (2.6.2 and 3.1.1 as of Sept 09)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Download from http://python.org/download/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Python comes with a large library of standard modules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There are several options for an IDE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IDLE – works well with Windows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Emacs with python-mode or your favorite text editor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Eclipse with Pydev (http://pydev.sourceforge.net/)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FDE83-1BD3-2DE2-B506-51F9BFD81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>
                <a:effectLst>
                  <a:outerShdw blurRad="38100" dist="38100" dir="2700000" algn="tl">
                    <a:srgbClr val="000000"/>
                  </a:outerShdw>
                </a:effectLst>
                <a:ea typeface="ＭＳ Ｐゴシック" panose="020B0600070205080204" pitchFamily="34" charset="-128"/>
              </a:rPr>
              <a:t>IDLE Development Environment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6112EA79-3EDE-C746-B181-66418DDF1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36538" indent="-236538"/>
            <a:r>
              <a:rPr lang="en-US" altLang="en-US">
                <a:ea typeface="ＭＳ Ｐゴシック" panose="020B0600070205080204" pitchFamily="34" charset="-128"/>
              </a:rPr>
              <a:t>IDLE is an Integrated DeveLopment Environ-ment for Python, typically used on Windows</a:t>
            </a:r>
          </a:p>
          <a:p>
            <a:pPr marL="236538" indent="-236538"/>
            <a:r>
              <a:rPr lang="en-US" altLang="en-US">
                <a:ea typeface="ＭＳ Ｐゴシック" panose="020B0600070205080204" pitchFamily="34" charset="-128"/>
              </a:rPr>
              <a:t>Multi-window text editor with syntax highlighting, auto-completion, smart indent and other.</a:t>
            </a:r>
          </a:p>
          <a:p>
            <a:pPr marL="236538" indent="-236538"/>
            <a:r>
              <a:rPr lang="en-US" altLang="en-US">
                <a:ea typeface="ＭＳ Ｐゴシック" panose="020B0600070205080204" pitchFamily="34" charset="-128"/>
              </a:rPr>
              <a:t>Python shell with syntax highlighting.</a:t>
            </a:r>
          </a:p>
          <a:p>
            <a:pPr marL="236538" indent="-236538"/>
            <a:r>
              <a:rPr lang="en-US" altLang="en-US">
                <a:ea typeface="ＭＳ Ｐゴシック" panose="020B0600070205080204" pitchFamily="34" charset="-128"/>
              </a:rPr>
              <a:t>Integrated debugger</a:t>
            </a:r>
            <a:br>
              <a:rPr lang="en-US" altLang="en-US">
                <a:ea typeface="ＭＳ Ｐゴシック" panose="020B0600070205080204" pitchFamily="34" charset="-128"/>
              </a:rPr>
            </a:br>
            <a:r>
              <a:rPr lang="en-US" altLang="en-US">
                <a:ea typeface="ＭＳ Ｐゴシック" panose="020B0600070205080204" pitchFamily="34" charset="-128"/>
              </a:rPr>
              <a:t>with stepping, persis-</a:t>
            </a:r>
            <a:br>
              <a:rPr lang="en-US" altLang="en-US">
                <a:ea typeface="ＭＳ Ｐゴシック" panose="020B0600070205080204" pitchFamily="34" charset="-128"/>
              </a:rPr>
            </a:br>
            <a:r>
              <a:rPr lang="en-US" altLang="en-US">
                <a:ea typeface="ＭＳ Ｐゴシック" panose="020B0600070205080204" pitchFamily="34" charset="-128"/>
              </a:rPr>
              <a:t>tent breakpoints,</a:t>
            </a:r>
            <a:br>
              <a:rPr lang="en-US" altLang="en-US">
                <a:ea typeface="ＭＳ Ｐゴシック" panose="020B0600070205080204" pitchFamily="34" charset="-128"/>
              </a:rPr>
            </a:br>
            <a:r>
              <a:rPr lang="en-US" altLang="en-US">
                <a:ea typeface="ＭＳ Ｐゴシック" panose="020B0600070205080204" pitchFamily="34" charset="-128"/>
              </a:rPr>
              <a:t>and call stack visi-</a:t>
            </a:r>
            <a:br>
              <a:rPr lang="en-US" altLang="en-US">
                <a:ea typeface="ＭＳ Ｐゴシック" panose="020B0600070205080204" pitchFamily="34" charset="-128"/>
              </a:rPr>
            </a:br>
            <a:r>
              <a:rPr lang="en-US" altLang="en-US">
                <a:ea typeface="ＭＳ Ｐゴシック" panose="020B0600070205080204" pitchFamily="34" charset="-128"/>
              </a:rPr>
              <a:t>bility</a:t>
            </a:r>
          </a:p>
        </p:txBody>
      </p:sp>
      <p:pic>
        <p:nvPicPr>
          <p:cNvPr id="30724" name="Picture 3">
            <a:extLst>
              <a:ext uri="{FF2B5EF4-FFF2-40B4-BE49-F238E27FC236}">
                <a16:creationId xmlns:a16="http://schemas.microsoft.com/office/drawing/2014/main" id="{F553F226-6947-CB45-BACE-153894F16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6" y="4114800"/>
            <a:ext cx="4651375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BAB3E-2A75-100D-20AA-1B6A4FC4B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  <a:ea typeface="ＭＳ Ｐゴシック" panose="020B0600070205080204" pitchFamily="34" charset="-128"/>
              </a:rPr>
              <a:t>Python Scripts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7B7A1F4A-923E-CDC9-CF24-0C65E00FB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When you call a python program from the command line the interpreter evaluates each expression in the file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Familiar mechanisms are used to provide command line arguments and/or redirect input and output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Python also has mechanisms to allow a python program to act both as a script and as a module to be imported and used by another python program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349D48F0-29E9-69B9-A6E7-58FD6053E8C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  <a:ea typeface="ＭＳ Ｐゴシック" panose="020B0600070205080204" pitchFamily="34" charset="-128"/>
              </a:rPr>
              <a:t>The Basics</a:t>
            </a:r>
          </a:p>
        </p:txBody>
      </p:sp>
      <p:pic>
        <p:nvPicPr>
          <p:cNvPr id="45059" name="Picture 4" descr="AN03633_">
            <a:extLst>
              <a:ext uri="{FF2B5EF4-FFF2-40B4-BE49-F238E27FC236}">
                <a16:creationId xmlns:a16="http://schemas.microsoft.com/office/drawing/2014/main" id="{389BDD18-9258-164A-4491-D9472373C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3505201"/>
            <a:ext cx="4054475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1026">
            <a:extLst>
              <a:ext uri="{FF2B5EF4-FFF2-40B4-BE49-F238E27FC236}">
                <a16:creationId xmlns:a16="http://schemas.microsoft.com/office/drawing/2014/main" id="{FE9DC0F5-9031-0D2A-B520-9E78E82B58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  <a:ea typeface="ＭＳ Ｐゴシック" panose="020B0600070205080204" pitchFamily="34" charset="-128"/>
              </a:rPr>
              <a:t>A Code Sample (in IDLE)</a:t>
            </a:r>
          </a:p>
        </p:txBody>
      </p:sp>
      <p:sp>
        <p:nvSpPr>
          <p:cNvPr id="47107" name="Rectangle 1027">
            <a:extLst>
              <a:ext uri="{FF2B5EF4-FFF2-40B4-BE49-F238E27FC236}">
                <a16:creationId xmlns:a16="http://schemas.microsoft.com/office/drawing/2014/main" id="{6D486ACD-70E0-18C9-2197-D323CB92D6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None/>
            </a:pPr>
            <a:r>
              <a:rPr lang="en-US" altLang="en-US" b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x = 34 - 23            </a:t>
            </a:r>
            <a:r>
              <a:rPr lang="en-US" altLang="en-US" b="0">
                <a:solidFill>
                  <a:srgbClr val="FF3300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# A comment.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en-US" b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y = </a:t>
            </a:r>
            <a:r>
              <a:rPr lang="en-US" altLang="en-US" b="0">
                <a:solidFill>
                  <a:srgbClr val="33CC33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“Hello”</a:t>
            </a:r>
            <a:r>
              <a:rPr lang="en-US" altLang="en-US" b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           </a:t>
            </a:r>
            <a:r>
              <a:rPr lang="en-US" altLang="en-US" b="0">
                <a:solidFill>
                  <a:srgbClr val="FF3300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# Another one.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en-US" b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z = 3.45    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en-US" b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altLang="en-US" b="0">
                <a:solidFill>
                  <a:srgbClr val="FF6600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if</a:t>
            </a:r>
            <a:r>
              <a:rPr lang="en-US" altLang="en-US" b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z == 3.45 </a:t>
            </a:r>
            <a:r>
              <a:rPr lang="en-US" altLang="en-US" b="0">
                <a:solidFill>
                  <a:srgbClr val="FF6600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or</a:t>
            </a:r>
            <a:r>
              <a:rPr lang="en-US" altLang="en-US" b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y == </a:t>
            </a:r>
            <a:r>
              <a:rPr lang="en-US" altLang="en-US" b="0">
                <a:solidFill>
                  <a:srgbClr val="33CC33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“Hello”</a:t>
            </a:r>
            <a:r>
              <a:rPr lang="en-US" altLang="en-US" b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: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en-US" b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    x = x + 1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en-US" b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    y = y + </a:t>
            </a:r>
            <a:r>
              <a:rPr lang="en-US" altLang="en-US" b="0">
                <a:solidFill>
                  <a:srgbClr val="33CC33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“ World”</a:t>
            </a:r>
            <a:r>
              <a:rPr lang="en-US" altLang="en-US" b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  </a:t>
            </a:r>
            <a:r>
              <a:rPr lang="en-US" altLang="en-US" b="0">
                <a:solidFill>
                  <a:srgbClr val="FF3300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# String concat.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en-US" b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altLang="en-US" b="0">
                <a:solidFill>
                  <a:srgbClr val="FF6600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print</a:t>
            </a:r>
            <a:r>
              <a:rPr lang="en-US" altLang="en-US" b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x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en-US" b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</a:t>
            </a:r>
            <a:r>
              <a:rPr lang="en-US" altLang="en-US" b="0">
                <a:solidFill>
                  <a:srgbClr val="FF6600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print</a:t>
            </a:r>
            <a:r>
              <a:rPr lang="en-US" altLang="en-US" b="0"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 y</a:t>
            </a:r>
            <a:endParaRPr lang="en-US" altLang="en-US">
              <a:latin typeface="Lucida Sans Typewriter" panose="020B0509030504030204" pitchFamily="49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3840335-7275-4F54-7209-7F2FDFAECA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>
                <a:effectLst>
                  <a:outerShdw blurRad="38100" dist="38100" dir="2700000" algn="tl">
                    <a:srgbClr val="000000"/>
                  </a:outerShdw>
                </a:effectLst>
                <a:ea typeface="ＭＳ Ｐゴシック" panose="020B0600070205080204" pitchFamily="34" charset="-128"/>
              </a:rPr>
              <a:t>Enough to Understand the Code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6B468611-A309-9911-D4DE-B3AC2EFC24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371600"/>
            <a:ext cx="7772400" cy="52578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Indentation matters to code meaning</a:t>
            </a:r>
          </a:p>
          <a:p>
            <a:pPr marL="457200" lvl="1" indent="-220663"/>
            <a:r>
              <a:rPr lang="en-US" altLang="en-US" dirty="0">
                <a:ea typeface="ＭＳ Ｐゴシック" panose="020B0600070205080204" pitchFamily="34" charset="-128"/>
              </a:rPr>
              <a:t>Block structure indicated by indentation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First assignment to a variable creates it</a:t>
            </a:r>
          </a:p>
          <a:p>
            <a:pPr marL="457200" lvl="1" indent="-220663"/>
            <a:r>
              <a:rPr lang="en-US" altLang="en-US" dirty="0">
                <a:ea typeface="ＭＳ Ｐゴシック" panose="020B0600070205080204" pitchFamily="34" charset="-128"/>
              </a:rPr>
              <a:t>Variable types don’t need to be declared.</a:t>
            </a:r>
          </a:p>
          <a:p>
            <a:pPr marL="457200" lvl="1" indent="-220663"/>
            <a:r>
              <a:rPr lang="en-US" altLang="en-US" dirty="0">
                <a:ea typeface="ＭＳ Ｐゴシック" panose="020B0600070205080204" pitchFamily="34" charset="-128"/>
              </a:rPr>
              <a:t>Python figures out the variable types on its own. 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Assignment is </a:t>
            </a:r>
            <a:r>
              <a:rPr lang="en-US" altLang="en-US" i="1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=</a:t>
            </a:r>
            <a:r>
              <a:rPr lang="en-US" altLang="en-US" dirty="0">
                <a:ea typeface="ＭＳ Ｐゴシック" panose="020B0600070205080204" pitchFamily="34" charset="-128"/>
              </a:rPr>
              <a:t> and comparison is </a:t>
            </a:r>
            <a:r>
              <a:rPr lang="en-US" altLang="en-US" i="1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==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For numbers </a:t>
            </a:r>
            <a:r>
              <a:rPr lang="en-US" altLang="en-US" i="1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+ - * / %</a:t>
            </a:r>
            <a:r>
              <a:rPr lang="en-US" altLang="en-US" dirty="0">
                <a:ea typeface="ＭＳ Ｐゴシック" panose="020B0600070205080204" pitchFamily="34" charset="-128"/>
              </a:rPr>
              <a:t> are as expected</a:t>
            </a:r>
          </a:p>
          <a:p>
            <a:pPr marL="457200" lvl="1" indent="-220663"/>
            <a:r>
              <a:rPr lang="en-US" altLang="en-US" dirty="0">
                <a:ea typeface="ＭＳ Ｐゴシック" panose="020B0600070205080204" pitchFamily="34" charset="-128"/>
              </a:rPr>
              <a:t>Special use of </a:t>
            </a:r>
            <a:r>
              <a:rPr lang="en-US" altLang="en-US" sz="2800" b="1" i="1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+</a:t>
            </a:r>
            <a:r>
              <a:rPr lang="en-US" altLang="en-US" dirty="0">
                <a:ea typeface="ＭＳ Ｐゴシック" panose="020B0600070205080204" pitchFamily="34" charset="-128"/>
              </a:rPr>
              <a:t> for string concatenation and </a:t>
            </a:r>
            <a:r>
              <a:rPr lang="en-US" altLang="en-US" sz="2800" b="1" i="1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%</a:t>
            </a:r>
            <a:r>
              <a:rPr lang="en-US" altLang="en-US" dirty="0">
                <a:ea typeface="ＭＳ Ｐゴシック" panose="020B0600070205080204" pitchFamily="34" charset="-128"/>
              </a:rPr>
              <a:t> for string formatting (as in C’s </a:t>
            </a:r>
            <a:r>
              <a:rPr lang="en-US" altLang="en-US" dirty="0" err="1">
                <a:ea typeface="ＭＳ Ｐゴシック" panose="020B0600070205080204" pitchFamily="34" charset="-128"/>
              </a:rPr>
              <a:t>printf</a:t>
            </a:r>
            <a:r>
              <a:rPr lang="en-US" altLang="en-US" dirty="0">
                <a:ea typeface="ＭＳ Ｐゴシック" panose="020B0600070205080204" pitchFamily="34" charset="-128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Logical operators are words (</a:t>
            </a:r>
            <a:r>
              <a:rPr lang="en-US" altLang="en-US" dirty="0">
                <a:solidFill>
                  <a:schemeClr val="accent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and, or, not</a:t>
            </a:r>
            <a:r>
              <a:rPr lang="en-US" altLang="en-US" dirty="0">
                <a:ea typeface="ＭＳ Ｐゴシック" panose="020B0600070205080204" pitchFamily="34" charset="-128"/>
              </a:rPr>
              <a:t>) </a:t>
            </a:r>
            <a:r>
              <a:rPr lang="en-US" altLang="en-US" i="1" dirty="0">
                <a:ea typeface="ＭＳ Ｐゴシック" panose="020B0600070205080204" pitchFamily="34" charset="-128"/>
              </a:rPr>
              <a:t>not </a:t>
            </a:r>
            <a:r>
              <a:rPr lang="en-US" altLang="en-US" dirty="0">
                <a:ea typeface="ＭＳ Ｐゴシック" panose="020B0600070205080204" pitchFamily="34" charset="-128"/>
              </a:rPr>
              <a:t>symbols</a:t>
            </a:r>
            <a:endParaRPr lang="en-US" altLang="en-US" i="1" dirty="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The basic printing command is </a:t>
            </a:r>
            <a:r>
              <a:rPr lang="en-US" altLang="en-US" dirty="0">
                <a:solidFill>
                  <a:schemeClr val="accent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print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C674BAD-B5D2-81F1-C4C7-38237504C6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  <a:ea typeface="ＭＳ Ｐゴシック" panose="020B0600070205080204" pitchFamily="34" charset="-128"/>
              </a:rPr>
              <a:t>Basic Datatypes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CB6870A7-EF06-DBFF-B26C-1FE48161B6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295400"/>
            <a:ext cx="8001000" cy="53340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Integers (default for numbers)</a:t>
            </a:r>
          </a:p>
          <a:p>
            <a:pPr lvl="1"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z = 5 / 2  # Answer 2, integer division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Floats</a:t>
            </a:r>
          </a:p>
          <a:p>
            <a:pPr lvl="1"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x = 3.456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Strings</a:t>
            </a:r>
          </a:p>
          <a:p>
            <a:pPr lvl="1"/>
            <a:r>
              <a:rPr lang="en-US" altLang="en-US" sz="2600">
                <a:ea typeface="ＭＳ Ｐゴシック" panose="020B0600070205080204" pitchFamily="34" charset="-128"/>
              </a:rPr>
              <a:t>Can use “” or ‘’ to specify with </a:t>
            </a:r>
            <a:r>
              <a:rPr lang="en-US" altLang="en-US" sz="2600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“abc” </a:t>
            </a:r>
            <a:r>
              <a:rPr lang="en-US" altLang="en-US" sz="2600">
                <a:ea typeface="ＭＳ Ｐゴシック" panose="020B0600070205080204" pitchFamily="34" charset="-128"/>
              </a:rPr>
              <a:t>== </a:t>
            </a:r>
            <a:r>
              <a:rPr lang="en-US" altLang="en-US" sz="2600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‘abc’</a:t>
            </a:r>
            <a:endParaRPr lang="en-US" altLang="en-US" sz="260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2600">
                <a:ea typeface="ＭＳ Ｐゴシック" panose="020B0600070205080204" pitchFamily="34" charset="-128"/>
              </a:rPr>
              <a:t>Unmatched can occur within the string: </a:t>
            </a:r>
            <a:r>
              <a:rPr lang="en-US" altLang="en-US" sz="2600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“matt’s”</a:t>
            </a:r>
          </a:p>
          <a:p>
            <a:pPr lvl="1"/>
            <a:r>
              <a:rPr lang="en-US" altLang="en-US" sz="2600">
                <a:ea typeface="ＭＳ Ｐゴシック" panose="020B0600070205080204" pitchFamily="34" charset="-128"/>
              </a:rPr>
              <a:t>Use triple double-quotes for multi-line strings or strings than contain both ‘ and “ inside of them:  </a:t>
            </a:r>
            <a:br>
              <a:rPr lang="en-US" altLang="en-US" sz="2600">
                <a:ea typeface="ＭＳ Ｐゴシック" panose="020B0600070205080204" pitchFamily="34" charset="-128"/>
              </a:rPr>
            </a:br>
            <a:r>
              <a:rPr lang="en-US" altLang="en-US" sz="2600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“““a‘b“c”””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D5F6891-2379-CA8A-8388-916A0ABDC8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  <a:ea typeface="ＭＳ Ｐゴシック" panose="020B0600070205080204" pitchFamily="34" charset="-128"/>
              </a:rPr>
              <a:t>Whitespace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2B80C406-F5B1-B88E-670E-BCE64C3B66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295400"/>
            <a:ext cx="7924800" cy="5334000"/>
          </a:xfrm>
        </p:spPr>
        <p:txBody>
          <a:bodyPr/>
          <a:lstStyle/>
          <a:p>
            <a:pPr marL="0" indent="0"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Whitespace is meaningful in Python: especially indentation and placement of newlines</a:t>
            </a:r>
          </a:p>
          <a:p>
            <a:pPr marL="0" indent="0"/>
            <a:r>
              <a:rPr lang="en-US" altLang="en-US">
                <a:ea typeface="ＭＳ Ｐゴシック" panose="020B0600070205080204" pitchFamily="34" charset="-128"/>
              </a:rPr>
              <a:t>Use a newline to end a line of code</a:t>
            </a:r>
          </a:p>
          <a:p>
            <a:pPr marL="636588" lvl="2" indent="-236538"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Use </a:t>
            </a:r>
            <a:r>
              <a:rPr lang="en-US" altLang="en-US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\ </a:t>
            </a:r>
            <a:r>
              <a:rPr lang="en-US" altLang="en-US">
                <a:ea typeface="ＭＳ Ｐゴシック" panose="020B0600070205080204" pitchFamily="34" charset="-128"/>
              </a:rPr>
              <a:t>when must go to next line prematurely</a:t>
            </a:r>
          </a:p>
          <a:p>
            <a:pPr marL="0" indent="0"/>
            <a:r>
              <a:rPr lang="en-US" altLang="en-US">
                <a:ea typeface="ＭＳ Ｐゴシック" panose="020B0600070205080204" pitchFamily="34" charset="-128"/>
              </a:rPr>
              <a:t>No braces </a:t>
            </a:r>
            <a:r>
              <a:rPr lang="en-US" altLang="en-US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{}</a:t>
            </a:r>
            <a:r>
              <a:rPr lang="en-US" altLang="en-US">
                <a:ea typeface="ＭＳ Ｐゴシック" panose="020B0600070205080204" pitchFamily="34" charset="-128"/>
              </a:rPr>
              <a:t> to mark blocks of code, use </a:t>
            </a:r>
            <a:r>
              <a:rPr lang="en-US" altLang="en-US" i="1">
                <a:ea typeface="ＭＳ Ｐゴシック" panose="020B0600070205080204" pitchFamily="34" charset="-128"/>
              </a:rPr>
              <a:t>consistent</a:t>
            </a:r>
            <a:r>
              <a:rPr lang="en-US" altLang="en-US">
                <a:ea typeface="ＭＳ Ｐゴシック" panose="020B0600070205080204" pitchFamily="34" charset="-128"/>
              </a:rPr>
              <a:t> indentation instead</a:t>
            </a:r>
          </a:p>
          <a:p>
            <a:pPr marL="636588" lvl="2" indent="-236538"/>
            <a:r>
              <a:rPr lang="en-US" altLang="en-US">
                <a:ea typeface="ＭＳ Ｐゴシック" panose="020B0600070205080204" pitchFamily="34" charset="-128"/>
              </a:rPr>
              <a:t>First line with </a:t>
            </a:r>
            <a:r>
              <a:rPr lang="en-US" altLang="en-US" i="1">
                <a:ea typeface="ＭＳ Ｐゴシック" panose="020B0600070205080204" pitchFamily="34" charset="-128"/>
              </a:rPr>
              <a:t>less</a:t>
            </a:r>
            <a:r>
              <a:rPr lang="en-US" altLang="en-US">
                <a:ea typeface="ＭＳ Ｐゴシック" panose="020B0600070205080204" pitchFamily="34" charset="-128"/>
              </a:rPr>
              <a:t> indentation is outside of the block</a:t>
            </a:r>
          </a:p>
          <a:p>
            <a:pPr marL="636588" lvl="2" indent="-236538"/>
            <a:r>
              <a:rPr lang="en-US" altLang="en-US">
                <a:ea typeface="ＭＳ Ｐゴシック" panose="020B0600070205080204" pitchFamily="34" charset="-128"/>
              </a:rPr>
              <a:t>First line with </a:t>
            </a:r>
            <a:r>
              <a:rPr lang="en-US" altLang="en-US" i="1">
                <a:ea typeface="ＭＳ Ｐゴシック" panose="020B0600070205080204" pitchFamily="34" charset="-128"/>
              </a:rPr>
              <a:t>more</a:t>
            </a:r>
            <a:r>
              <a:rPr lang="en-US" altLang="en-US">
                <a:ea typeface="ＭＳ Ｐゴシック" panose="020B0600070205080204" pitchFamily="34" charset="-128"/>
              </a:rPr>
              <a:t> indentation starts a nested block</a:t>
            </a:r>
          </a:p>
          <a:p>
            <a:pPr marL="0" indent="0"/>
            <a:r>
              <a:rPr lang="en-US" altLang="en-US">
                <a:ea typeface="ＭＳ Ｐゴシック" panose="020B0600070205080204" pitchFamily="34" charset="-128"/>
              </a:rPr>
              <a:t>Colons start of a new block in many constructs, e.g. function definitions, then clauses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99764820-C814-E83A-EF5F-CB337008F3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Comments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A7D00BB5-6225-9F9E-F344-9873D968F9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295400"/>
            <a:ext cx="7924800" cy="5334000"/>
          </a:xfrm>
        </p:spPr>
        <p:txBody>
          <a:bodyPr/>
          <a:lstStyle/>
          <a:p>
            <a:pPr marL="236538" indent="-236538"/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Start comments with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#, </a:t>
            </a: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rest of line is ignored</a:t>
            </a:r>
          </a:p>
          <a:p>
            <a:pPr marL="236538" indent="-236538"/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Can include a “documentation string” as the first line of a new function or class you define</a:t>
            </a:r>
          </a:p>
          <a:p>
            <a:pPr marL="236538" indent="-236538"/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Development environments, debugger, and other tools use it: it’s good style to include one</a:t>
            </a:r>
          </a:p>
          <a:p>
            <a:pPr lvl="1">
              <a:buFontTx/>
              <a:buNone/>
            </a:pPr>
            <a:endParaRPr lang="en-US" altLang="en-US" sz="800">
              <a:solidFill>
                <a:srgbClr val="FF6600"/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lvl="1">
              <a:buFontTx/>
              <a:buNone/>
            </a:pPr>
            <a:r>
              <a:rPr lang="en-US" altLang="en-US">
                <a:solidFill>
                  <a:srgbClr val="FF66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def fact</a:t>
            </a: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(n):</a:t>
            </a:r>
          </a:p>
          <a:p>
            <a:pPr lvl="1">
              <a:buFontTx/>
              <a:buNone/>
            </a:pPr>
            <a:r>
              <a:rPr lang="en-US" altLang="en-US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 “““fact(n) assumes n is a positive integer and returns facorial of n.”””</a:t>
            </a:r>
            <a:br>
              <a:rPr lang="en-US" altLang="en-US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assert(n&gt;0)</a:t>
            </a:r>
          </a:p>
          <a:p>
            <a:pPr lvl="1">
              <a:buFontTx/>
              <a:buNone/>
            </a:pPr>
            <a:r>
              <a:rPr lang="en-US" altLang="en-US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return 1 if n==1 else n*fact(n-1) </a:t>
            </a:r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>
            <a:extLst>
              <a:ext uri="{FF2B5EF4-FFF2-40B4-BE49-F238E27FC236}">
                <a16:creationId xmlns:a16="http://schemas.microsoft.com/office/drawing/2014/main" id="{819A3556-CBE5-42A2-BD0D-73A06970A5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  <a:ea typeface="ＭＳ Ｐゴシック" panose="020B0600070205080204" pitchFamily="34" charset="-128"/>
              </a:rPr>
              <a:t>Assignment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65EA621C-384D-62D1-77DF-24F06C67DB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spcAft>
                <a:spcPct val="15000"/>
              </a:spcAft>
            </a:pPr>
            <a:r>
              <a:rPr lang="en-US" altLang="en-US" b="0" i="1">
                <a:ea typeface="ＭＳ Ｐゴシック" panose="020B0600070205080204" pitchFamily="34" charset="-128"/>
              </a:rPr>
              <a:t>Binding a variable</a:t>
            </a:r>
            <a:r>
              <a:rPr lang="en-US" altLang="en-US" b="0">
                <a:ea typeface="ＭＳ Ｐゴシック" panose="020B0600070205080204" pitchFamily="34" charset="-128"/>
              </a:rPr>
              <a:t> in Python means setting a </a:t>
            </a:r>
            <a:r>
              <a:rPr lang="en-US" altLang="en-US" b="0" i="1">
                <a:solidFill>
                  <a:schemeClr val="accent2"/>
                </a:solidFill>
                <a:ea typeface="ＭＳ Ｐゴシック" panose="020B0600070205080204" pitchFamily="34" charset="-128"/>
              </a:rPr>
              <a:t>name</a:t>
            </a:r>
            <a:r>
              <a:rPr lang="en-US" altLang="en-US" b="0">
                <a:ea typeface="ＭＳ Ｐゴシック" panose="020B0600070205080204" pitchFamily="34" charset="-128"/>
              </a:rPr>
              <a:t> to hold a </a:t>
            </a:r>
            <a:r>
              <a:rPr lang="en-US" altLang="en-US" b="0" i="1">
                <a:solidFill>
                  <a:schemeClr val="accent2"/>
                </a:solidFill>
                <a:ea typeface="ＭＳ Ｐゴシック" panose="020B0600070205080204" pitchFamily="34" charset="-128"/>
              </a:rPr>
              <a:t>reference</a:t>
            </a:r>
            <a:r>
              <a:rPr lang="en-US" altLang="en-US" b="0">
                <a:ea typeface="ＭＳ Ｐゴシック" panose="020B0600070205080204" pitchFamily="34" charset="-128"/>
              </a:rPr>
              <a:t> to some </a:t>
            </a:r>
            <a:r>
              <a:rPr lang="en-US" altLang="en-US" b="0" i="1">
                <a:solidFill>
                  <a:schemeClr val="accent2"/>
                </a:solidFill>
                <a:ea typeface="ＭＳ Ｐゴシック" panose="020B0600070205080204" pitchFamily="34" charset="-128"/>
              </a:rPr>
              <a:t>object</a:t>
            </a:r>
            <a:endParaRPr lang="en-US" altLang="en-US" b="0"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  <a:spcAft>
                <a:spcPct val="15000"/>
              </a:spcAft>
            </a:pPr>
            <a:r>
              <a:rPr lang="en-US" altLang="en-US" i="1">
                <a:ea typeface="ＭＳ Ｐゴシック" panose="020B0600070205080204" pitchFamily="34" charset="-128"/>
              </a:rPr>
              <a:t>Assignment creates references, not copies</a:t>
            </a:r>
          </a:p>
          <a:p>
            <a:pPr>
              <a:lnSpc>
                <a:spcPct val="90000"/>
              </a:lnSpc>
              <a:spcAft>
                <a:spcPct val="15000"/>
              </a:spcAft>
            </a:pPr>
            <a:r>
              <a:rPr lang="en-US" altLang="en-US" b="0">
                <a:ea typeface="ＭＳ Ｐゴシック" panose="020B0600070205080204" pitchFamily="34" charset="-128"/>
              </a:rPr>
              <a:t>Names in Python do not have an intrinsic type,  objects have types</a:t>
            </a:r>
          </a:p>
          <a:p>
            <a:pPr lvl="1">
              <a:lnSpc>
                <a:spcPct val="90000"/>
              </a:lnSpc>
              <a:spcAft>
                <a:spcPct val="15000"/>
              </a:spcAft>
            </a:pPr>
            <a:r>
              <a:rPr lang="en-US" altLang="en-US">
                <a:ea typeface="ＭＳ Ｐゴシック" panose="020B0600070205080204" pitchFamily="34" charset="-128"/>
              </a:rPr>
              <a:t>Python determines the type of the reference automatically based on what data is assigned to it</a:t>
            </a:r>
          </a:p>
          <a:p>
            <a:pPr>
              <a:lnSpc>
                <a:spcPct val="90000"/>
              </a:lnSpc>
              <a:spcAft>
                <a:spcPct val="15000"/>
              </a:spcAft>
            </a:pPr>
            <a:r>
              <a:rPr lang="en-US" altLang="en-US" b="0">
                <a:ea typeface="ＭＳ Ｐゴシック" panose="020B0600070205080204" pitchFamily="34" charset="-128"/>
              </a:rPr>
              <a:t>You create a name the first time it appears on the left side of an assignment expression:    </a:t>
            </a:r>
            <a:br>
              <a:rPr lang="en-US" altLang="en-US" b="0">
                <a:ea typeface="ＭＳ Ｐゴシック" panose="020B0600070205080204" pitchFamily="34" charset="-128"/>
              </a:rPr>
            </a:br>
            <a:r>
              <a:rPr lang="en-US" altLang="en-US" sz="2000">
                <a:solidFill>
                  <a:schemeClr val="accent2"/>
                </a:solidFill>
                <a:latin typeface="Lucida Sans Typewriter" panose="020B0509030504030204" pitchFamily="49" charset="0"/>
                <a:ea typeface="ＭＳ Ｐゴシック" panose="020B0600070205080204" pitchFamily="34" charset="-128"/>
              </a:rPr>
              <a:t>	x = 3</a:t>
            </a:r>
          </a:p>
          <a:p>
            <a:pPr>
              <a:lnSpc>
                <a:spcPct val="90000"/>
              </a:lnSpc>
              <a:spcAft>
                <a:spcPct val="15000"/>
              </a:spcAft>
            </a:pPr>
            <a:r>
              <a:rPr lang="en-US" altLang="en-US" b="0">
                <a:ea typeface="ＭＳ Ｐゴシック" panose="020B0600070205080204" pitchFamily="34" charset="-128"/>
              </a:rPr>
              <a:t>A reference is deleted via garbage collection after any names bound to it have passed out of scope</a:t>
            </a:r>
          </a:p>
          <a:p>
            <a:pPr>
              <a:lnSpc>
                <a:spcPct val="90000"/>
              </a:lnSpc>
              <a:spcAft>
                <a:spcPct val="15000"/>
              </a:spcAft>
            </a:pPr>
            <a:r>
              <a:rPr lang="en-US" altLang="en-US" b="0">
                <a:ea typeface="ＭＳ Ｐゴシック" panose="020B0600070205080204" pitchFamily="34" charset="-128"/>
              </a:rPr>
              <a:t>Python uses </a:t>
            </a:r>
            <a:r>
              <a:rPr lang="en-US" altLang="en-US" b="0" i="1">
                <a:solidFill>
                  <a:schemeClr val="accent2"/>
                </a:solidFill>
                <a:ea typeface="ＭＳ Ｐゴシック" panose="020B0600070205080204" pitchFamily="34" charset="-128"/>
              </a:rPr>
              <a:t>reference semantics</a:t>
            </a:r>
            <a:r>
              <a:rPr lang="en-US" altLang="en-US" b="0">
                <a:ea typeface="ＭＳ Ｐゴシック" panose="020B0600070205080204" pitchFamily="34" charset="-128"/>
              </a:rPr>
              <a:t> (more later)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>
            <a:extLst>
              <a:ext uri="{FF2B5EF4-FFF2-40B4-BE49-F238E27FC236}">
                <a16:creationId xmlns:a16="http://schemas.microsoft.com/office/drawing/2014/main" id="{F4F75480-A7A9-DD0B-A478-89E84EF07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Naming Rules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78BD2864-2542-D90E-CABF-3D28072707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Names are case sensitive and cannot start with a number.  They can contain letters, numbers, and underscores.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bob  </a:t>
            </a:r>
            <a:r>
              <a:rPr lang="en-US" altLang="en-US" dirty="0" err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Bob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 _bob  _2_bob_  bob_2  </a:t>
            </a:r>
            <a:r>
              <a:rPr lang="en-US" altLang="en-US" dirty="0" err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BoB</a:t>
            </a:r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There are some reserved words: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1800" dirty="0">
                <a:solidFill>
                  <a:srgbClr val="2D2DB9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</a:t>
            </a:r>
            <a:r>
              <a:rPr lang="en-US" altLang="en-US" dirty="0">
                <a:solidFill>
                  <a:srgbClr val="2D2DB9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and, assert, break, class, continue, def, del, </a:t>
            </a:r>
            <a:r>
              <a:rPr lang="en-US" altLang="en-US" dirty="0" err="1">
                <a:solidFill>
                  <a:srgbClr val="2D2DB9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elif</a:t>
            </a:r>
            <a:r>
              <a:rPr lang="en-US" altLang="en-US" dirty="0">
                <a:solidFill>
                  <a:srgbClr val="2D2DB9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, else, except, exec, finally, for, from, global, if, import, in, is, lambda, not, or, pass, print, raise, return, try, while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80398-46D6-3E77-A774-5A0261292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9A0B95-BA21-C546-3D5F-461B5959CF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1510026"/>
              </p:ext>
            </p:extLst>
          </p:nvPr>
        </p:nvGraphicFramePr>
        <p:xfrm>
          <a:off x="838199" y="1825625"/>
          <a:ext cx="10642601" cy="3514836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085314">
                  <a:extLst>
                    <a:ext uri="{9D8B030D-6E8A-4147-A177-3AD203B41FA5}">
                      <a16:colId xmlns:a16="http://schemas.microsoft.com/office/drawing/2014/main" val="1235137"/>
                    </a:ext>
                  </a:extLst>
                </a:gridCol>
                <a:gridCol w="8557287">
                  <a:extLst>
                    <a:ext uri="{9D8B030D-6E8A-4147-A177-3AD203B41FA5}">
                      <a16:colId xmlns:a16="http://schemas.microsoft.com/office/drawing/2014/main" val="1840918375"/>
                    </a:ext>
                  </a:extLst>
                </a:gridCol>
              </a:tblGrid>
              <a:tr h="106130">
                <a:tc>
                  <a:txBody>
                    <a:bodyPr/>
                    <a:lstStyle/>
                    <a:p>
                      <a:pPr algn="ctr"/>
                      <a:r>
                        <a:rPr lang="en-IN" sz="1600" b="1"/>
                        <a:t>Keyword</a:t>
                      </a:r>
                    </a:p>
                  </a:txBody>
                  <a:tcPr marL="26533" marR="26533" marT="13266" marB="13266"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Purpose/Usage Description</a:t>
                      </a:r>
                    </a:p>
                  </a:txBody>
                  <a:tcPr marL="26533" marR="26533" marT="13266" marB="13266" anchor="ctr"/>
                </a:tc>
                <a:extLst>
                  <a:ext uri="{0D108BD9-81ED-4DB2-BD59-A6C34878D82A}">
                    <a16:rowId xmlns:a16="http://schemas.microsoft.com/office/drawing/2014/main" val="2324967083"/>
                  </a:ext>
                </a:extLst>
              </a:tr>
              <a:tr h="185728">
                <a:tc>
                  <a:txBody>
                    <a:bodyPr/>
                    <a:lstStyle/>
                    <a:p>
                      <a:pPr algn="ctr"/>
                      <a:r>
                        <a:rPr lang="en-IN" sz="1600" b="1"/>
                        <a:t>and</a:t>
                      </a:r>
                    </a:p>
                  </a:txBody>
                  <a:tcPr marL="26533" marR="26533" marT="13266" marB="13266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Logical operator used to combine conditional statements.</a:t>
                      </a:r>
                    </a:p>
                  </a:txBody>
                  <a:tcPr marL="26533" marR="26533" marT="13266" marB="13266" anchor="ctr"/>
                </a:tc>
                <a:extLst>
                  <a:ext uri="{0D108BD9-81ED-4DB2-BD59-A6C34878D82A}">
                    <a16:rowId xmlns:a16="http://schemas.microsoft.com/office/drawing/2014/main" val="2350882665"/>
                  </a:ext>
                </a:extLst>
              </a:tr>
              <a:tr h="185728">
                <a:tc>
                  <a:txBody>
                    <a:bodyPr/>
                    <a:lstStyle/>
                    <a:p>
                      <a:pPr algn="ctr"/>
                      <a:r>
                        <a:rPr lang="en-IN" sz="1600" b="1"/>
                        <a:t>assert</a:t>
                      </a:r>
                    </a:p>
                  </a:txBody>
                  <a:tcPr marL="26533" marR="26533" marT="13266" marB="13266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Used for debugging, tests a condition and raises an AssertionError if false.</a:t>
                      </a:r>
                    </a:p>
                  </a:txBody>
                  <a:tcPr marL="26533" marR="26533" marT="13266" marB="13266" anchor="ctr"/>
                </a:tc>
                <a:extLst>
                  <a:ext uri="{0D108BD9-81ED-4DB2-BD59-A6C34878D82A}">
                    <a16:rowId xmlns:a16="http://schemas.microsoft.com/office/drawing/2014/main" val="2347513192"/>
                  </a:ext>
                </a:extLst>
              </a:tr>
              <a:tr h="106130">
                <a:tc>
                  <a:txBody>
                    <a:bodyPr/>
                    <a:lstStyle/>
                    <a:p>
                      <a:pPr algn="ctr"/>
                      <a:r>
                        <a:rPr lang="en-IN" sz="1600" b="1"/>
                        <a:t>break</a:t>
                      </a:r>
                    </a:p>
                  </a:txBody>
                  <a:tcPr marL="26533" marR="26533" marT="13266" marB="13266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Exits the nearest enclosing loop prematurely.</a:t>
                      </a:r>
                    </a:p>
                  </a:txBody>
                  <a:tcPr marL="26533" marR="26533" marT="13266" marB="13266" anchor="ctr"/>
                </a:tc>
                <a:extLst>
                  <a:ext uri="{0D108BD9-81ED-4DB2-BD59-A6C34878D82A}">
                    <a16:rowId xmlns:a16="http://schemas.microsoft.com/office/drawing/2014/main" val="2622525076"/>
                  </a:ext>
                </a:extLst>
              </a:tr>
              <a:tr h="106130">
                <a:tc>
                  <a:txBody>
                    <a:bodyPr/>
                    <a:lstStyle/>
                    <a:p>
                      <a:pPr algn="ctr"/>
                      <a:r>
                        <a:rPr lang="en-IN" sz="1600" b="1"/>
                        <a:t>class</a:t>
                      </a:r>
                    </a:p>
                  </a:txBody>
                  <a:tcPr marL="26533" marR="26533" marT="13266" marB="13266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Defines a new user-defined class.</a:t>
                      </a:r>
                    </a:p>
                  </a:txBody>
                  <a:tcPr marL="26533" marR="26533" marT="13266" marB="13266" anchor="ctr"/>
                </a:tc>
                <a:extLst>
                  <a:ext uri="{0D108BD9-81ED-4DB2-BD59-A6C34878D82A}">
                    <a16:rowId xmlns:a16="http://schemas.microsoft.com/office/drawing/2014/main" val="1860647580"/>
                  </a:ext>
                </a:extLst>
              </a:tr>
              <a:tr h="185728">
                <a:tc>
                  <a:txBody>
                    <a:bodyPr/>
                    <a:lstStyle/>
                    <a:p>
                      <a:pPr algn="ctr"/>
                      <a:r>
                        <a:rPr lang="en-IN" sz="1600" b="1"/>
                        <a:t>continue</a:t>
                      </a:r>
                    </a:p>
                  </a:txBody>
                  <a:tcPr marL="26533" marR="26533" marT="13266" marB="13266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Skips the rest of the loop iteration and moves to the next iteration.</a:t>
                      </a:r>
                    </a:p>
                  </a:txBody>
                  <a:tcPr marL="26533" marR="26533" marT="13266" marB="13266" anchor="ctr"/>
                </a:tc>
                <a:extLst>
                  <a:ext uri="{0D108BD9-81ED-4DB2-BD59-A6C34878D82A}">
                    <a16:rowId xmlns:a16="http://schemas.microsoft.com/office/drawing/2014/main" val="2014639956"/>
                  </a:ext>
                </a:extLst>
              </a:tr>
              <a:tr h="106130">
                <a:tc>
                  <a:txBody>
                    <a:bodyPr/>
                    <a:lstStyle/>
                    <a:p>
                      <a:pPr algn="ctr"/>
                      <a:r>
                        <a:rPr lang="en-IN" sz="1600" b="1"/>
                        <a:t>def</a:t>
                      </a:r>
                    </a:p>
                  </a:txBody>
                  <a:tcPr marL="26533" marR="26533" marT="13266" marB="13266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Defines a new function.</a:t>
                      </a:r>
                    </a:p>
                  </a:txBody>
                  <a:tcPr marL="26533" marR="26533" marT="13266" marB="13266" anchor="ctr"/>
                </a:tc>
                <a:extLst>
                  <a:ext uri="{0D108BD9-81ED-4DB2-BD59-A6C34878D82A}">
                    <a16:rowId xmlns:a16="http://schemas.microsoft.com/office/drawing/2014/main" val="1876808385"/>
                  </a:ext>
                </a:extLst>
              </a:tr>
              <a:tr h="185728">
                <a:tc>
                  <a:txBody>
                    <a:bodyPr/>
                    <a:lstStyle/>
                    <a:p>
                      <a:pPr algn="ctr"/>
                      <a:r>
                        <a:rPr lang="en-IN" sz="1600" b="1"/>
                        <a:t>del</a:t>
                      </a:r>
                    </a:p>
                  </a:txBody>
                  <a:tcPr marL="26533" marR="26533" marT="13266" marB="13266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Deletes a reference to an object (like a variable, list element, etc.).</a:t>
                      </a:r>
                    </a:p>
                  </a:txBody>
                  <a:tcPr marL="26533" marR="26533" marT="13266" marB="13266" anchor="ctr"/>
                </a:tc>
                <a:extLst>
                  <a:ext uri="{0D108BD9-81ED-4DB2-BD59-A6C34878D82A}">
                    <a16:rowId xmlns:a16="http://schemas.microsoft.com/office/drawing/2014/main" val="3648283106"/>
                  </a:ext>
                </a:extLst>
              </a:tr>
              <a:tr h="106130">
                <a:tc>
                  <a:txBody>
                    <a:bodyPr/>
                    <a:lstStyle/>
                    <a:p>
                      <a:pPr algn="ctr"/>
                      <a:r>
                        <a:rPr lang="en-IN" sz="1600" b="1"/>
                        <a:t>elif</a:t>
                      </a:r>
                    </a:p>
                  </a:txBody>
                  <a:tcPr marL="26533" marR="26533" marT="13266" marB="13266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Stands for "else if", used in conditional branching.</a:t>
                      </a:r>
                    </a:p>
                  </a:txBody>
                  <a:tcPr marL="26533" marR="26533" marT="13266" marB="13266" anchor="ctr"/>
                </a:tc>
                <a:extLst>
                  <a:ext uri="{0D108BD9-81ED-4DB2-BD59-A6C34878D82A}">
                    <a16:rowId xmlns:a16="http://schemas.microsoft.com/office/drawing/2014/main" val="1093674425"/>
                  </a:ext>
                </a:extLst>
              </a:tr>
              <a:tr h="185728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else</a:t>
                      </a:r>
                    </a:p>
                  </a:txBody>
                  <a:tcPr marL="26533" marR="26533" marT="13266" marB="13266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Specifies a block of code to execute if the condition is false.</a:t>
                      </a:r>
                    </a:p>
                  </a:txBody>
                  <a:tcPr marL="26533" marR="26533" marT="13266" marB="13266" anchor="ctr"/>
                </a:tc>
                <a:extLst>
                  <a:ext uri="{0D108BD9-81ED-4DB2-BD59-A6C34878D82A}">
                    <a16:rowId xmlns:a16="http://schemas.microsoft.com/office/drawing/2014/main" val="750032635"/>
                  </a:ext>
                </a:extLst>
              </a:tr>
              <a:tr h="106130">
                <a:tc>
                  <a:txBody>
                    <a:bodyPr/>
                    <a:lstStyle/>
                    <a:p>
                      <a:pPr algn="ctr"/>
                      <a:r>
                        <a:rPr lang="en-IN" sz="1600" b="1"/>
                        <a:t>except</a:t>
                      </a:r>
                    </a:p>
                  </a:txBody>
                  <a:tcPr marL="26533" marR="26533" marT="13266" marB="13266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Catches and handles exceptions in a try block.</a:t>
                      </a:r>
                    </a:p>
                  </a:txBody>
                  <a:tcPr marL="26533" marR="26533" marT="13266" marB="13266" anchor="ctr"/>
                </a:tc>
                <a:extLst>
                  <a:ext uri="{0D108BD9-81ED-4DB2-BD59-A6C34878D82A}">
                    <a16:rowId xmlns:a16="http://schemas.microsoft.com/office/drawing/2014/main" val="2458391842"/>
                  </a:ext>
                </a:extLst>
              </a:tr>
              <a:tr h="185728">
                <a:tc>
                  <a:txBody>
                    <a:bodyPr/>
                    <a:lstStyle/>
                    <a:p>
                      <a:pPr algn="ctr"/>
                      <a:r>
                        <a:rPr lang="en-IN" sz="1600" b="1"/>
                        <a:t>exec</a:t>
                      </a:r>
                    </a:p>
                  </a:txBody>
                  <a:tcPr marL="26533" marR="26533" marT="13266" marB="13266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Executes dynamically created Python code (Python 2 only, replaced by exec() in Python 3).</a:t>
                      </a:r>
                    </a:p>
                  </a:txBody>
                  <a:tcPr marL="26533" marR="26533" marT="13266" marB="13266" anchor="ctr"/>
                </a:tc>
                <a:extLst>
                  <a:ext uri="{0D108BD9-81ED-4DB2-BD59-A6C34878D82A}">
                    <a16:rowId xmlns:a16="http://schemas.microsoft.com/office/drawing/2014/main" val="2749663133"/>
                  </a:ext>
                </a:extLst>
              </a:tr>
              <a:tr h="185728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finally</a:t>
                      </a:r>
                    </a:p>
                  </a:txBody>
                  <a:tcPr marL="26533" marR="26533" marT="13266" marB="13266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Defines a block of code that will always execute, after try and except.</a:t>
                      </a:r>
                    </a:p>
                  </a:txBody>
                  <a:tcPr marL="26533" marR="26533" marT="13266" marB="13266" anchor="ctr"/>
                </a:tc>
                <a:extLst>
                  <a:ext uri="{0D108BD9-81ED-4DB2-BD59-A6C34878D82A}">
                    <a16:rowId xmlns:a16="http://schemas.microsoft.com/office/drawing/2014/main" val="1679491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3080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6D90E-C36B-F0AF-8B8F-3369BB061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10DCD84-7714-1977-7970-C39CD9F486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629485"/>
              </p:ext>
            </p:extLst>
          </p:nvPr>
        </p:nvGraphicFramePr>
        <p:xfrm>
          <a:off x="838200" y="1825625"/>
          <a:ext cx="10611256" cy="4325952"/>
        </p:xfrm>
        <a:graphic>
          <a:graphicData uri="http://schemas.openxmlformats.org/drawingml/2006/table">
            <a:tbl>
              <a:tblPr/>
              <a:tblGrid>
                <a:gridCol w="2253343">
                  <a:extLst>
                    <a:ext uri="{9D8B030D-6E8A-4147-A177-3AD203B41FA5}">
                      <a16:colId xmlns:a16="http://schemas.microsoft.com/office/drawing/2014/main" val="103104217"/>
                    </a:ext>
                  </a:extLst>
                </a:gridCol>
                <a:gridCol w="8357913">
                  <a:extLst>
                    <a:ext uri="{9D8B030D-6E8A-4147-A177-3AD203B41FA5}">
                      <a16:colId xmlns:a16="http://schemas.microsoft.com/office/drawing/2014/main" val="3883606496"/>
                    </a:ext>
                  </a:extLst>
                </a:gridCol>
              </a:tblGrid>
              <a:tr h="106130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for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Starts a for loop, used to iterate over a sequence.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577954"/>
                  </a:ext>
                </a:extLst>
              </a:tr>
              <a:tr h="185728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from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Used with import to import specific parts of a module.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014906"/>
                  </a:ext>
                </a:extLst>
              </a:tr>
              <a:tr h="185728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global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Declares a variable as global (i.e., accessible at the module level).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66257"/>
                  </a:ext>
                </a:extLst>
              </a:tr>
              <a:tr h="106130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if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Starts a conditional block.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302962"/>
                  </a:ext>
                </a:extLst>
              </a:tr>
              <a:tr h="185728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import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Imports a module or specific attributes from a module.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662039"/>
                  </a:ext>
                </a:extLst>
              </a:tr>
              <a:tr h="185728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in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Checks if a value exists in a sequence (also used in for loops).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147183"/>
                  </a:ext>
                </a:extLst>
              </a:tr>
              <a:tr h="185728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is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Tests object identity (i.e., whether two variables point to the same object).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094882"/>
                  </a:ext>
                </a:extLst>
              </a:tr>
              <a:tr h="106130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lambda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Creates an anonymous function.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050370"/>
                  </a:ext>
                </a:extLst>
              </a:tr>
              <a:tr h="106130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not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Logical negation operator.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421703"/>
                  </a:ext>
                </a:extLst>
              </a:tr>
              <a:tr h="185728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or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Logical operator used to combine conditional statements.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991453"/>
                  </a:ext>
                </a:extLst>
              </a:tr>
              <a:tr h="185728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pass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Placeholder that does nothing, used when a statement is syntactically required.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181149"/>
                  </a:ext>
                </a:extLst>
              </a:tr>
              <a:tr h="185728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print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Outputs text to the console (function in Python 3, statement in Python 2).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623747"/>
                  </a:ext>
                </a:extLst>
              </a:tr>
              <a:tr h="106130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raise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Raises an exception.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14682"/>
                  </a:ext>
                </a:extLst>
              </a:tr>
              <a:tr h="106130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return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Exits a function and optionally returns a value.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067374"/>
                  </a:ext>
                </a:extLst>
              </a:tr>
              <a:tr h="106130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try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Specifies exception handling block.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866891"/>
                  </a:ext>
                </a:extLst>
              </a:tr>
              <a:tr h="185728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2060"/>
                          </a:solidFill>
                        </a:rPr>
                        <a:t>while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Starts a while loop, executes as long as a condition is true.</a:t>
                      </a:r>
                    </a:p>
                  </a:txBody>
                  <a:tcPr marL="26533" marR="26533" marT="13266" marB="1326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130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548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>
            <a:extLst>
              <a:ext uri="{FF2B5EF4-FFF2-40B4-BE49-F238E27FC236}">
                <a16:creationId xmlns:a16="http://schemas.microsoft.com/office/drawing/2014/main" id="{53AD9DF8-E7C8-2DDE-4DB7-D07172C64B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  <a:ea typeface="ＭＳ Ｐゴシック" panose="020B0600070205080204" pitchFamily="34" charset="-128"/>
              </a:rPr>
              <a:t>Assignment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0A253AC1-1E18-393A-B9D7-65DA30295B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236538" indent="-236538"/>
            <a:r>
              <a:rPr lang="en-US" altLang="en-US" sz="3200">
                <a:ea typeface="ＭＳ Ｐゴシック" panose="020B0600070205080204" pitchFamily="34" charset="-128"/>
              </a:rPr>
              <a:t>You can assign to multiple names at the same time 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>
                <a:solidFill>
                  <a:srgbClr val="660033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&gt;&gt;&gt;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</a:rPr>
              <a:t> x, y = 2, 3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>
                <a:solidFill>
                  <a:srgbClr val="660033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&gt;&gt;&gt;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</a:rPr>
              <a:t> x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2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>
                <a:solidFill>
                  <a:srgbClr val="660033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&gt;&gt;&gt;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</a:rPr>
              <a:t> y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3</a:t>
            </a:r>
          </a:p>
          <a:p>
            <a:pPr marL="236538" indent="-236538">
              <a:buNone/>
            </a:pPr>
            <a:r>
              <a:rPr lang="en-US" altLang="en-US" sz="3200">
                <a:solidFill>
                  <a:srgbClr val="000000"/>
                </a:solidFill>
                <a:ea typeface="ＭＳ Ｐゴシック" panose="020B0600070205080204" pitchFamily="34" charset="-128"/>
              </a:rPr>
              <a:t>This makes it easy to swap values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>
                <a:solidFill>
                  <a:srgbClr val="660033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&gt;&gt;&gt;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</a:rPr>
              <a:t> x, y = y, x</a:t>
            </a:r>
          </a:p>
          <a:p>
            <a:pPr marL="236538" indent="-236538"/>
            <a:r>
              <a:rPr lang="en-US" altLang="en-US" sz="3200">
                <a:ea typeface="ＭＳ Ｐゴシック" panose="020B0600070205080204" pitchFamily="34" charset="-128"/>
              </a:rPr>
              <a:t>Assignments can be chained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>
                <a:solidFill>
                  <a:srgbClr val="660033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&gt;&gt;&gt;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</a:rPr>
              <a:t> a = b = x = 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E760AEB0-5FC6-EBBC-4E1C-895525A2CAE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1371600"/>
            <a:ext cx="7772400" cy="2819400"/>
          </a:xfrm>
        </p:spPr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Sequence types: Tuples, Lists, and Strings</a:t>
            </a:r>
          </a:p>
        </p:txBody>
      </p:sp>
      <p:pic>
        <p:nvPicPr>
          <p:cNvPr id="66563" name="Picture 5" descr="j0138565">
            <a:extLst>
              <a:ext uri="{FF2B5EF4-FFF2-40B4-BE49-F238E27FC236}">
                <a16:creationId xmlns:a16="http://schemas.microsoft.com/office/drawing/2014/main" id="{327CE30A-034E-07E1-FBA4-094BA9A30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651376"/>
            <a:ext cx="4267200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42AC506B-4CFB-8689-6171-0D958D71C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Sequence Types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CBB2F445-A44F-98FF-2F05-DC413B869C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295400"/>
            <a:ext cx="7772400" cy="5181600"/>
          </a:xfrm>
        </p:spPr>
        <p:txBody>
          <a:bodyPr/>
          <a:lstStyle/>
          <a:p>
            <a:pPr marL="457200" indent="-457200">
              <a:buFont typeface="Symbol" panose="05050102010706020507" pitchFamily="18" charset="2"/>
              <a:buAutoNum type="arabicPeriod"/>
            </a:pPr>
            <a:r>
              <a:rPr lang="en-US" altLang="en-US" sz="32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Tuple: (‘john’, 32, [CMSC])</a:t>
            </a:r>
          </a:p>
          <a:p>
            <a:pPr marL="838200" lvl="1" indent="-381000">
              <a:buFont typeface="Symbol" panose="05050102010706020507" pitchFamily="18" charset="2"/>
              <a:buChar char="·"/>
            </a:pPr>
            <a:r>
              <a:rPr lang="en-US" altLang="en-US" sz="28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 simple </a:t>
            </a:r>
            <a:r>
              <a:rPr lang="en-US" altLang="en-US" sz="2800" i="1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immutable</a:t>
            </a:r>
            <a:r>
              <a:rPr lang="en-US" altLang="en-US" sz="28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ordered sequence of items</a:t>
            </a:r>
          </a:p>
          <a:p>
            <a:pPr marL="838200" lvl="1" indent="-381000">
              <a:buFont typeface="Symbol" panose="05050102010706020507" pitchFamily="18" charset="2"/>
              <a:buChar char="·"/>
            </a:pPr>
            <a:r>
              <a:rPr lang="en-US" altLang="en-US" sz="28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Items can be of mixed types, including collection types</a:t>
            </a:r>
          </a:p>
          <a:p>
            <a:pPr marL="457200" indent="-457200">
              <a:buFontTx/>
              <a:buAutoNum type="arabicPeriod"/>
            </a:pPr>
            <a:r>
              <a:rPr lang="en-US" altLang="en-US" sz="32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Strings: “John Smith”</a:t>
            </a:r>
          </a:p>
          <a:p>
            <a:pPr marL="838200" lvl="1" indent="-381000"/>
            <a:r>
              <a:rPr lang="en-US" altLang="en-US" sz="2800" i="1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Immutable</a:t>
            </a:r>
          </a:p>
          <a:p>
            <a:pPr marL="838200" lvl="1" indent="-381000"/>
            <a:r>
              <a:rPr lang="en-US" altLang="en-US" sz="28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Conceptually very much like a tuple</a:t>
            </a:r>
          </a:p>
          <a:p>
            <a:pPr marL="457200" indent="-457200">
              <a:buFontTx/>
              <a:buAutoNum type="arabicPeriod"/>
            </a:pPr>
            <a:r>
              <a:rPr lang="en-US" altLang="en-US" sz="32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List: [1, 2, ‘john’, (‘up’, ‘down’)]</a:t>
            </a:r>
          </a:p>
          <a:p>
            <a:pPr marL="838200" lvl="1" indent="-381000">
              <a:buFont typeface="Symbol" panose="05050102010706020507" pitchFamily="18" charset="2"/>
              <a:buChar char="·"/>
            </a:pPr>
            <a:r>
              <a:rPr lang="en-US" altLang="en-US" sz="2800" i="1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Mutable</a:t>
            </a:r>
            <a:r>
              <a:rPr lang="en-US" altLang="en-US" sz="28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ordered sequence of items of mixed types</a:t>
            </a:r>
          </a:p>
          <a:p>
            <a:pPr marL="838200" lvl="1" indent="-381000">
              <a:buFont typeface="Symbol" panose="05050102010706020507" pitchFamily="18" charset="2"/>
              <a:buChar char="·"/>
            </a:pPr>
            <a:endParaRPr lang="en-US" altLang="en-US" sz="320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marL="457200" indent="-457200">
              <a:buNone/>
            </a:pPr>
            <a:endParaRPr lang="en-US" altLang="en-US" sz="3200" i="1">
              <a:solidFill>
                <a:schemeClr val="accent2"/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39398A71-FF04-4672-C067-3E7B40F58A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Similar Syntax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BE4B7C29-599A-25A8-A5CA-5F295BC319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32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All three sequence types (tuples, strings, and lists) share much of the same syntax and functionality.</a:t>
            </a:r>
          </a:p>
          <a:p>
            <a:pPr>
              <a:lnSpc>
                <a:spcPct val="90000"/>
              </a:lnSpc>
            </a:pPr>
            <a:r>
              <a:rPr lang="en-US" altLang="en-US" sz="32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Key difference: </a:t>
            </a:r>
          </a:p>
          <a:p>
            <a:pPr lvl="1">
              <a:lnSpc>
                <a:spcPct val="90000"/>
              </a:lnSpc>
            </a:pPr>
            <a:r>
              <a:rPr lang="en-US" altLang="en-US" sz="32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Tuples and strings are </a:t>
            </a:r>
            <a:r>
              <a:rPr lang="en-US" altLang="en-US" sz="3200" i="1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immutable</a:t>
            </a:r>
            <a:endParaRPr lang="en-US" altLang="en-US" sz="320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32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Lists are </a:t>
            </a:r>
            <a:r>
              <a:rPr lang="en-US" altLang="en-US" sz="3200" i="1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mutable</a:t>
            </a:r>
          </a:p>
          <a:p>
            <a:pPr>
              <a:lnSpc>
                <a:spcPct val="90000"/>
              </a:lnSpc>
            </a:pPr>
            <a:r>
              <a:rPr lang="en-US" altLang="en-US" sz="32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The operations shown in this section can be applied to </a:t>
            </a:r>
            <a:r>
              <a:rPr lang="en-US" altLang="en-US" sz="3200" i="1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all</a:t>
            </a:r>
            <a:r>
              <a:rPr lang="en-US" altLang="en-US" sz="32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sequence types</a:t>
            </a:r>
          </a:p>
          <a:p>
            <a:pPr lvl="1">
              <a:lnSpc>
                <a:spcPct val="90000"/>
              </a:lnSpc>
            </a:pPr>
            <a:r>
              <a:rPr lang="en-US" altLang="en-US" sz="32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most examples will just show the operation performed on one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A415D0B5-CE2F-B255-A40D-F104FBD8C6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Sequence Types 1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C00A2947-1DD2-5285-50E8-6DBCB00D08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600200"/>
            <a:ext cx="7924800" cy="4953000"/>
          </a:xfrm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Define tuples using parentheses and commas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en-US" altLang="en-US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tu = (23, </a:t>
            </a:r>
            <a:r>
              <a:rPr lang="en-US" altLang="en-US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‘abc’</a:t>
            </a: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, 4.56, (2,3), </a:t>
            </a:r>
            <a:r>
              <a:rPr lang="en-US" altLang="en-US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‘def’</a:t>
            </a: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)</a:t>
            </a:r>
          </a:p>
          <a:p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Define lists are using square brackets and commas</a:t>
            </a:r>
            <a:endParaRPr lang="en-US" altLang="en-US" b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lvl="1">
              <a:buFont typeface="Symbol" panose="05050102010706020507" pitchFamily="18" charset="2"/>
              <a:buNone/>
            </a:pPr>
            <a:r>
              <a:rPr lang="en-US" altLang="en-US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li = [</a:t>
            </a:r>
            <a:r>
              <a:rPr lang="en-US" altLang="en-US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“abc”</a:t>
            </a: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, 34, 4.34, 23]</a:t>
            </a:r>
          </a:p>
          <a:p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Define strings using quotes (“, ‘, or “““).</a:t>
            </a:r>
            <a:endParaRPr lang="en-US" altLang="en-US" b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lvl="1">
              <a:buFont typeface="Symbol" panose="05050102010706020507" pitchFamily="18" charset="2"/>
              <a:buNone/>
            </a:pPr>
            <a:r>
              <a:rPr lang="en-US" altLang="en-US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st = </a:t>
            </a:r>
            <a:r>
              <a:rPr lang="en-US" altLang="en-US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“Hello World”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en-US" altLang="en-US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st = </a:t>
            </a:r>
            <a:r>
              <a:rPr lang="en-US" altLang="en-US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‘Hello World’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en-US" altLang="en-US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st = </a:t>
            </a:r>
            <a:r>
              <a:rPr lang="en-US" altLang="en-US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“““This is a multi-line</a:t>
            </a:r>
          </a:p>
          <a:p>
            <a:pPr lvl="1">
              <a:buFont typeface="Symbol" panose="05050102010706020507" pitchFamily="18" charset="2"/>
              <a:buNone/>
            </a:pPr>
            <a:r>
              <a:rPr lang="en-US" altLang="en-US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string that uses triple quotes.”””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>
            <a:extLst>
              <a:ext uri="{FF2B5EF4-FFF2-40B4-BE49-F238E27FC236}">
                <a16:creationId xmlns:a16="http://schemas.microsoft.com/office/drawing/2014/main" id="{21DAA243-55E9-DFA3-D52E-1374025FEA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Sequence Types 2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B8A58943-3E5A-3C45-6693-9F13D4C758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295400"/>
            <a:ext cx="7772400" cy="52578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Access individual members of a tuple, list, or string using square bracket “array” notation </a:t>
            </a:r>
          </a:p>
          <a:p>
            <a:pPr>
              <a:lnSpc>
                <a:spcPct val="90000"/>
              </a:lnSpc>
            </a:pP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Note that all are 0 based… </a:t>
            </a: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endParaRPr lang="en-US" altLang="en-US" sz="1000" i="1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 sz="200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tu = (23, </a:t>
            </a:r>
            <a:r>
              <a:rPr lang="en-US" altLang="en-US" sz="2000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‘abc’</a:t>
            </a:r>
            <a:r>
              <a:rPr lang="en-US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, 4.56, (2,3), </a:t>
            </a:r>
            <a:r>
              <a:rPr lang="en-US" altLang="en-US" sz="2000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‘def’</a:t>
            </a:r>
            <a:r>
              <a:rPr lang="en-US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 sz="200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tu[1]     # Second item in the tuple.</a:t>
            </a: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‘abc’</a:t>
            </a: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endParaRPr lang="en-US" altLang="en-US" sz="800">
              <a:solidFill>
                <a:schemeClr val="accent2"/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 sz="200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li = [</a:t>
            </a:r>
            <a:r>
              <a:rPr lang="en-US" altLang="en-US" sz="2000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“abc”</a:t>
            </a:r>
            <a:r>
              <a:rPr lang="en-US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, 34, 4.34, 23]</a:t>
            </a:r>
            <a:r>
              <a:rPr lang="en-US" altLang="en-US" sz="200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 sz="200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li[1]      # Second item in the list.</a:t>
            </a: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34</a:t>
            </a: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endParaRPr lang="en-US" altLang="en-US" sz="800">
              <a:solidFill>
                <a:schemeClr val="accent2"/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 sz="200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st = </a:t>
            </a:r>
            <a:r>
              <a:rPr lang="en-US" altLang="en-US" sz="2000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“Hello World”</a:t>
            </a: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 sz="200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st[1]   # Second character in string.</a:t>
            </a: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‘e’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35EDC9AE-4A2B-FBB6-F8BA-91EEB95E03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Positive and negative indices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D87ED0B3-9332-82ED-716A-78761E54E4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1905000"/>
            <a:ext cx="8077200" cy="45720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t = (23, </a:t>
            </a:r>
            <a:r>
              <a:rPr lang="en-US" altLang="en-US" b="0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‘abc’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, 4.56, (2,3), </a:t>
            </a:r>
            <a:r>
              <a:rPr lang="en-US" altLang="en-US" b="0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‘def’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Positive index: count from the left, starting with 0</a:t>
            </a:r>
          </a:p>
          <a:p>
            <a:pPr marL="400050" lvl="1" indent="0">
              <a:buNone/>
            </a:pPr>
            <a:r>
              <a:rPr lang="en-US" altLang="en-US" sz="28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280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sz="28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t[1] </a:t>
            </a:r>
          </a:p>
          <a:p>
            <a:pPr marL="400050" lvl="1" indent="0">
              <a:buNone/>
            </a:pPr>
            <a:r>
              <a:rPr lang="en-US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‘abc’</a:t>
            </a:r>
            <a:endParaRPr lang="en-US" altLang="en-US" sz="280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Negative index: count from right, starting with –1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en-US" altLang="en-US" sz="280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sz="28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t[-3] </a:t>
            </a:r>
          </a:p>
          <a:p>
            <a:pPr marL="400050" lvl="1" indent="0">
              <a:buNone/>
            </a:pPr>
            <a:r>
              <a:rPr lang="en-US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4.56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EF65364F-A6E7-8B5E-A3C5-50DCF74AAF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Slicing: return copy of a subset</a:t>
            </a:r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4B7C6351-76B2-3961-9A83-7ECED8853F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600200"/>
            <a:ext cx="7772400" cy="49530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t = (23, </a:t>
            </a:r>
            <a:r>
              <a:rPr lang="en-US" altLang="en-US" b="0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‘abc’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, 4.56, (2,3), </a:t>
            </a:r>
            <a:r>
              <a:rPr lang="en-US" altLang="en-US" b="0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‘def’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US" altLang="en-US" sz="100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Return a copy of the container with a subset of the original members.  Start copying at the first index, and stop copying </a:t>
            </a:r>
            <a:r>
              <a:rPr lang="en-US" altLang="en-US" i="1" u="sng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before</a:t>
            </a: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second.</a:t>
            </a:r>
          </a:p>
          <a:p>
            <a:pPr marL="400050" lvl="1" indent="0">
              <a:buNone/>
            </a:pPr>
            <a:r>
              <a:rPr lang="en-US" altLang="en-US" sz="280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sz="28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t[1:4]	</a:t>
            </a:r>
          </a:p>
          <a:p>
            <a:pPr marL="400050" lvl="1" indent="0">
              <a:buNone/>
            </a:pPr>
            <a:r>
              <a:rPr lang="en-US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(‘abc’, 4.56, (2,3))</a:t>
            </a:r>
            <a:endParaRPr lang="en-US" altLang="en-US" sz="280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Negative indices count from end</a:t>
            </a:r>
          </a:p>
          <a:p>
            <a:pPr marL="400050" lvl="1" indent="0">
              <a:buNone/>
            </a:pPr>
            <a:r>
              <a:rPr lang="en-US" altLang="en-US" sz="280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sz="28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t[1:-1]</a:t>
            </a:r>
          </a:p>
          <a:p>
            <a:pPr marL="400050" lvl="1" indent="0">
              <a:buNone/>
            </a:pPr>
            <a:r>
              <a:rPr lang="en-US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(‘abc’, 4.56, (2,3))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BC7090F7-FC2A-62AB-9A91-2F496554C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Slicing: return copy of a =subset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D789DFAC-A02C-DA7E-C25F-18F95E8F3F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600200"/>
            <a:ext cx="7772400" cy="4419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t = (23, </a:t>
            </a:r>
            <a:r>
              <a:rPr lang="en-US" altLang="en-US" b="0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‘abc’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, 4.56, (2,3), </a:t>
            </a:r>
            <a:r>
              <a:rPr lang="en-US" altLang="en-US" b="0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‘def’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Omit first index to make copy starting from beginning of the container</a:t>
            </a:r>
          </a:p>
          <a:p>
            <a:pPr marL="0" indent="0">
              <a:buNone/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</a:t>
            </a:r>
            <a:r>
              <a:rPr lang="en-US" altLang="en-US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t[:2] 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(23, ‘abc’)</a:t>
            </a:r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Omit second index to make copy starting at first index and going to end</a:t>
            </a:r>
          </a:p>
          <a:p>
            <a:pPr marL="0" indent="0">
              <a:buNone/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</a:t>
            </a:r>
            <a:r>
              <a:rPr lang="en-US" altLang="en-US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t[2:]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(4.56, (2,3), ‘def’)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10DF5245-EA08-865C-8216-9A8B2B1E8F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Copying the Whole Sequence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5EEEE917-67AE-AB9F-7D7C-DEF2C63D8B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447800"/>
            <a:ext cx="7772400" cy="4648200"/>
          </a:xfrm>
        </p:spPr>
        <p:txBody>
          <a:bodyPr>
            <a:normAutofit/>
          </a:bodyPr>
          <a:lstStyle/>
          <a:p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[ : ] makes a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copy</a:t>
            </a: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of an entire sequence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</a:t>
            </a:r>
            <a:r>
              <a:rPr lang="en-US" altLang="en-US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t[:] 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(23, ‘abc’, 4.56, (2,3), ‘def’)</a:t>
            </a:r>
          </a:p>
          <a:p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Note the difference between these two lines for mutable sequences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en-US" b="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l2 = l1 # Both refer to 1 ref,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 	       # changing one affects both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en-US" b="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l2 = l1[:] # Independent copies, two refs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                	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8A91F31A-C8F0-867F-5C85-2B43C074E7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The ‘in’ Operator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0A7FD21D-D0F4-87ED-539F-FACD9AFB88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Boolean test whether a value is inside a container:</a:t>
            </a:r>
            <a:endParaRPr lang="en-US" altLang="en-US" sz="200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lvl="2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t = [1, 2, 4, 5]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3 </a:t>
            </a:r>
            <a:r>
              <a:rPr lang="en-US" altLang="en-US" sz="1800">
                <a:solidFill>
                  <a:srgbClr val="FF66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in</a:t>
            </a: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t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False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4 </a:t>
            </a:r>
            <a:r>
              <a:rPr lang="en-US" altLang="en-US" sz="1800">
                <a:solidFill>
                  <a:srgbClr val="FF66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in </a:t>
            </a: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True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4 </a:t>
            </a:r>
            <a:r>
              <a:rPr lang="en-US" altLang="en-US" sz="1800">
                <a:solidFill>
                  <a:srgbClr val="FF66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not in </a:t>
            </a: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False</a:t>
            </a:r>
          </a:p>
          <a:p>
            <a:pPr>
              <a:lnSpc>
                <a:spcPct val="90000"/>
              </a:lnSpc>
            </a:pP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For strings, tests for substrings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 a = 'abcde'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 'c' </a:t>
            </a:r>
            <a:r>
              <a:rPr lang="en-US" altLang="en-US" sz="1800">
                <a:solidFill>
                  <a:srgbClr val="FF66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in</a:t>
            </a: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a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True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 'cd' </a:t>
            </a:r>
            <a:r>
              <a:rPr lang="en-US" altLang="en-US" sz="1800">
                <a:solidFill>
                  <a:srgbClr val="FF66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in</a:t>
            </a: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a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True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 'ac' </a:t>
            </a:r>
            <a:r>
              <a:rPr lang="en-US" altLang="en-US" sz="1800">
                <a:solidFill>
                  <a:srgbClr val="FF66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in</a:t>
            </a:r>
            <a:r>
              <a:rPr lang="en-US" altLang="en-US" sz="18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a</a:t>
            </a:r>
          </a:p>
          <a:p>
            <a:pPr lvl="2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False</a:t>
            </a:r>
          </a:p>
          <a:p>
            <a:pPr>
              <a:lnSpc>
                <a:spcPct val="90000"/>
              </a:lnSpc>
            </a:pP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Be careful: the </a:t>
            </a:r>
            <a:r>
              <a:rPr lang="en-US" altLang="en-US" b="0" i="1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in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keyword is also used in the syntax of </a:t>
            </a:r>
            <a:r>
              <a:rPr lang="en-US" altLang="en-US" b="0" i="1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for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b="0" i="1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loops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and </a:t>
            </a:r>
            <a:r>
              <a:rPr lang="en-US" altLang="en-US" b="0" i="1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list comprehensions</a:t>
            </a:r>
            <a:endParaRPr lang="en-US" altLang="en-US" b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6E465BE6-866B-E077-2A0A-239B6DC305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The + Operator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A73ECF5-22E1-BFEC-E306-D656AA28DC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The + operator produces a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new</a:t>
            </a: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 tuple, list, or string whose value is the concatenation of its arguments.</a:t>
            </a:r>
            <a:endParaRPr lang="en-US" altLang="en-US" sz="320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b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b="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(1, 2, 3) + (4, 5, 6)</a:t>
            </a:r>
          </a:p>
          <a:p>
            <a:pPr marL="0" indent="0">
              <a:buNone/>
            </a:pPr>
            <a:r>
              <a:rPr lang="en-US" altLang="en-US" b="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(1, 2, 3, 4, 5, 6)</a:t>
            </a:r>
          </a:p>
          <a:p>
            <a:pPr marL="0" indent="0">
              <a:buNone/>
            </a:pPr>
            <a:endParaRPr lang="en-US" altLang="en-US" b="0">
              <a:solidFill>
                <a:schemeClr val="accent2"/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b="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[1, 2, 3] + [4, 5, 6]</a:t>
            </a:r>
          </a:p>
          <a:p>
            <a:pPr marL="0" indent="0">
              <a:buNone/>
            </a:pPr>
            <a:r>
              <a:rPr lang="en-US" altLang="en-US" b="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[1, 2, 3, 4, 5, 6]</a:t>
            </a:r>
          </a:p>
          <a:p>
            <a:pPr marL="0" indent="0">
              <a:buNone/>
            </a:pPr>
            <a:endParaRPr lang="en-US" altLang="en-US" b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b="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b="0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“Hello” 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+</a:t>
            </a:r>
            <a:r>
              <a:rPr lang="en-US" altLang="en-US" b="0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“ ” 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+</a:t>
            </a:r>
            <a:r>
              <a:rPr lang="en-US" altLang="en-US" b="0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“World”</a:t>
            </a:r>
          </a:p>
          <a:p>
            <a:pPr marL="0" indent="0">
              <a:buNone/>
            </a:pPr>
            <a:r>
              <a:rPr lang="en-US" altLang="en-US" b="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‘Hello World’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62604AC5-1CF2-66F2-34B2-2FD7ADDC5F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The * Operator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CE93F6EB-30F9-4F36-E7AE-1FF987109E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The * operator produces a </a:t>
            </a:r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new</a:t>
            </a: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tuple, list, or string that “repeats” the original content.</a:t>
            </a: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endParaRPr lang="en-US" altLang="en-US" sz="200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 sz="200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(1, 2, 3) * 3</a:t>
            </a: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(1, 2, 3, 1, 2, 3, 1, 2, 3)</a:t>
            </a: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endParaRPr lang="en-US" altLang="en-US" sz="200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 sz="200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[1, 2, 3] * 3</a:t>
            </a: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[1, 2, 3, 1, 2, 3, 1, 2, 3]</a:t>
            </a: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endParaRPr lang="en-US" altLang="en-US" sz="2000">
              <a:solidFill>
                <a:schemeClr val="accent2"/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 sz="200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“Hello”</a:t>
            </a:r>
            <a:r>
              <a:rPr lang="en-US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* 3</a:t>
            </a: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‘HelloHelloHello’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>
            <a:extLst>
              <a:ext uri="{FF2B5EF4-FFF2-40B4-BE49-F238E27FC236}">
                <a16:creationId xmlns:a16="http://schemas.microsoft.com/office/drawing/2014/main" id="{E63FCF99-78F7-18B5-97D7-B6227A9477E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1447800"/>
            <a:ext cx="7772400" cy="2362200"/>
          </a:xfrm>
        </p:spPr>
        <p:txBody>
          <a:bodyPr/>
          <a:lstStyle/>
          <a:p>
            <a:r>
              <a:rPr lang="en-US" altLang="en-US" sz="66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Mutability:</a:t>
            </a:r>
            <a:br>
              <a:rPr lang="en-US" altLang="en-US" sz="66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66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Tuples vs. Lists</a:t>
            </a:r>
          </a:p>
        </p:txBody>
      </p:sp>
      <p:pic>
        <p:nvPicPr>
          <p:cNvPr id="91139" name="Picture 4" descr="j0084446">
            <a:extLst>
              <a:ext uri="{FF2B5EF4-FFF2-40B4-BE49-F238E27FC236}">
                <a16:creationId xmlns:a16="http://schemas.microsoft.com/office/drawing/2014/main" id="{5D317920-59E6-0161-592F-C4372E970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543300"/>
            <a:ext cx="1828800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>
            <a:extLst>
              <a:ext uri="{FF2B5EF4-FFF2-40B4-BE49-F238E27FC236}">
                <a16:creationId xmlns:a16="http://schemas.microsoft.com/office/drawing/2014/main" id="{27670B14-82E7-4006-B04D-273231579C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Lists are mutable</a:t>
            </a:r>
          </a:p>
        </p:txBody>
      </p:sp>
      <p:sp>
        <p:nvSpPr>
          <p:cNvPr id="228355" name="Rectangle 3">
            <a:extLst>
              <a:ext uri="{FF2B5EF4-FFF2-40B4-BE49-F238E27FC236}">
                <a16:creationId xmlns:a16="http://schemas.microsoft.com/office/drawing/2014/main" id="{C42BF964-E2DE-D647-2416-C32E7DE0E0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1676400"/>
            <a:ext cx="7924800" cy="4876800"/>
          </a:xfrm>
        </p:spPr>
        <p:txBody>
          <a:bodyPr/>
          <a:lstStyle/>
          <a:p>
            <a:pPr>
              <a:buFont typeface="Symbol" panose="05050102010706020507" pitchFamily="18" charset="2"/>
              <a:buNone/>
            </a:pPr>
            <a:r>
              <a:rPr lang="en-US" altLang="en-US" sz="320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sz="32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li = [</a:t>
            </a:r>
            <a:r>
              <a:rPr lang="en-US" altLang="en-US" sz="3200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‘abc’</a:t>
            </a:r>
            <a:r>
              <a:rPr lang="en-US" altLang="en-US" sz="32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, 23, 4.34, 23]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en-US" sz="320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sz="32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li[1] = 45 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en-US" sz="320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sz="32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li</a:t>
            </a:r>
            <a:br>
              <a:rPr lang="en-US" altLang="en-US" sz="32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320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[‘abc’, 45, 4.34, 23]</a:t>
            </a:r>
            <a:endParaRPr lang="en-US" altLang="en-US" sz="3600">
              <a:solidFill>
                <a:schemeClr val="accent2"/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>
              <a:buFont typeface="Symbol" panose="05050102010706020507" pitchFamily="18" charset="2"/>
              <a:buNone/>
            </a:pPr>
            <a:endParaRPr lang="en-US" altLang="en-US" sz="110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r>
              <a:rPr lang="en-US" altLang="en-US" sz="32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We can change lists </a:t>
            </a:r>
            <a:r>
              <a:rPr lang="en-US" altLang="en-US" sz="3200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in place.</a:t>
            </a:r>
            <a:r>
              <a:rPr lang="en-US" altLang="en-US" sz="32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</a:p>
          <a:p>
            <a:r>
              <a:rPr lang="en-US" altLang="en-US" sz="32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Name </a:t>
            </a:r>
            <a:r>
              <a:rPr lang="en-US" altLang="en-US" sz="3200" i="1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li</a:t>
            </a:r>
            <a:r>
              <a:rPr lang="en-US" altLang="en-US" sz="32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still points to the same memory reference when we’re done. </a:t>
            </a:r>
          </a:p>
          <a:p>
            <a:endParaRPr lang="en-US" altLang="en-US" sz="100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>
            <a:extLst>
              <a:ext uri="{FF2B5EF4-FFF2-40B4-BE49-F238E27FC236}">
                <a16:creationId xmlns:a16="http://schemas.microsoft.com/office/drawing/2014/main" id="{F0B6E98A-99E0-DEAC-E8CF-B168D84AB6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Tuples are immutable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E4903B5A-695B-30F4-DC9A-73AA505293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600200"/>
            <a:ext cx="7848600" cy="4800600"/>
          </a:xfrm>
        </p:spPr>
        <p:txBody>
          <a:bodyPr>
            <a:normAutofit fontScale="92500" lnSpcReduction="20000"/>
          </a:bodyPr>
          <a:lstStyle/>
          <a:p>
            <a:pPr marL="179388" indent="-179388">
              <a:buNone/>
            </a:pPr>
            <a:r>
              <a:rPr lang="en-US" altLang="en-US" sz="200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t = (23, </a:t>
            </a:r>
            <a:r>
              <a:rPr lang="en-US" altLang="en-US" sz="2000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‘abc’</a:t>
            </a:r>
            <a:r>
              <a:rPr lang="en-US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, 4.56, (2,3), </a:t>
            </a:r>
            <a:r>
              <a:rPr lang="en-US" altLang="en-US" sz="2000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‘def’</a:t>
            </a:r>
            <a:r>
              <a:rPr lang="en-US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)</a:t>
            </a:r>
            <a:endParaRPr lang="en-US" altLang="en-US" sz="2000">
              <a:solidFill>
                <a:schemeClr val="accent2"/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marL="179388" indent="-179388">
              <a:buNone/>
            </a:pPr>
            <a:r>
              <a:rPr lang="en-US" altLang="en-US" sz="200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t[2] = 3.14</a:t>
            </a:r>
          </a:p>
          <a:p>
            <a:pPr marL="179388" indent="-179388">
              <a:buNone/>
            </a:pPr>
            <a:endParaRPr lang="en-US" altLang="en-US" sz="100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marL="179388" indent="-179388">
              <a:buNone/>
            </a:pPr>
            <a:r>
              <a:rPr lang="en-US" altLang="en-US" sz="1800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Traceback (most recent call last):</a:t>
            </a:r>
          </a:p>
          <a:p>
            <a:pPr marL="179388" indent="-179388">
              <a:buNone/>
            </a:pPr>
            <a:r>
              <a:rPr lang="en-US" altLang="en-US" sz="1800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 File "&lt;pyshell#75&gt;", line 1, in -toplevel-</a:t>
            </a:r>
          </a:p>
          <a:p>
            <a:pPr marL="179388" indent="-179388">
              <a:buNone/>
            </a:pPr>
            <a:r>
              <a:rPr lang="en-US" altLang="en-US" sz="1800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   tu[2] = 3.14</a:t>
            </a:r>
          </a:p>
          <a:p>
            <a:pPr marL="179388" indent="-179388">
              <a:buNone/>
            </a:pPr>
            <a:r>
              <a:rPr lang="en-US" altLang="en-US" sz="1800">
                <a:solidFill>
                  <a:srgbClr val="FF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TypeError: object doesn't support item assignment</a:t>
            </a:r>
          </a:p>
          <a:p>
            <a:pPr marL="179388" indent="-179388">
              <a:buNone/>
            </a:pPr>
            <a:endParaRPr lang="en-US" altLang="en-US" sz="1000">
              <a:solidFill>
                <a:srgbClr val="FF3300"/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marL="179388" indent="-179388"/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You can’t change a tuple. </a:t>
            </a:r>
          </a:p>
          <a:p>
            <a:pPr marL="179388" indent="-179388"/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You can make a fresh tuple and assign its reference to a previously used name.</a:t>
            </a:r>
          </a:p>
          <a:p>
            <a:pPr marL="179388" indent="-179388">
              <a:buNone/>
            </a:pPr>
            <a:r>
              <a:rPr lang="en-US" altLang="en-US" sz="200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&gt;&gt;&gt;</a:t>
            </a:r>
            <a:r>
              <a:rPr lang="en-US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t = (23, </a:t>
            </a:r>
            <a:r>
              <a:rPr lang="en-US" altLang="en-US" sz="2000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‘abc’</a:t>
            </a:r>
            <a:r>
              <a:rPr lang="en-US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, 3.14, (2,3), </a:t>
            </a:r>
            <a:r>
              <a:rPr lang="en-US" altLang="en-US" sz="2000">
                <a:solidFill>
                  <a:srgbClr val="008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‘def’</a:t>
            </a:r>
            <a:r>
              <a:rPr lang="en-US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)</a:t>
            </a:r>
          </a:p>
          <a:p>
            <a:pPr marL="179388" indent="-179388"/>
            <a:r>
              <a:rPr lang="en-US" altLang="en-US" i="1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The immutability of tuples means they’re faster than lists. </a:t>
            </a:r>
          </a:p>
          <a:p>
            <a:pPr marL="179388" indent="-179388">
              <a:buNone/>
            </a:pPr>
            <a:endParaRPr lang="en-US" altLang="en-US" b="0" i="1">
              <a:solidFill>
                <a:schemeClr val="accent2"/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>
            <a:extLst>
              <a:ext uri="{FF2B5EF4-FFF2-40B4-BE49-F238E27FC236}">
                <a16:creationId xmlns:a16="http://schemas.microsoft.com/office/drawing/2014/main" id="{2588D013-24B1-E3B8-41BB-E5BDFBAAE2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Operations on Lists Only 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22B2E640-B5DA-72C7-0277-A610480BFC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828800"/>
            <a:ext cx="7924800" cy="4648200"/>
          </a:xfrm>
        </p:spPr>
        <p:txBody>
          <a:bodyPr>
            <a:normAutofit/>
          </a:bodyPr>
          <a:lstStyle/>
          <a:p>
            <a:pPr>
              <a:buFont typeface="Symbol" panose="05050102010706020507" pitchFamily="18" charset="2"/>
              <a:buNone/>
            </a:pPr>
            <a:r>
              <a:rPr lang="en-US" altLang="en-US" b="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li = [1, 11, 3, 4, 5]</a:t>
            </a:r>
          </a:p>
          <a:p>
            <a:pPr>
              <a:buFont typeface="Symbol" panose="05050102010706020507" pitchFamily="18" charset="2"/>
              <a:buNone/>
            </a:pPr>
            <a:endParaRPr lang="en-US" altLang="en-US" b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>
              <a:buFont typeface="Symbol" panose="05050102010706020507" pitchFamily="18" charset="2"/>
              <a:buNone/>
            </a:pPr>
            <a:r>
              <a:rPr lang="en-US" altLang="en-US" b="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li.append(‘a’)	# Note the </a:t>
            </a:r>
            <a:r>
              <a:rPr lang="en-US" altLang="en-US" b="0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method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syntax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en-US" b="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li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en-US" b="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[1, 11, 3, 4, 5, ‘a’]</a:t>
            </a:r>
          </a:p>
          <a:p>
            <a:pPr>
              <a:buFont typeface="Symbol" panose="05050102010706020507" pitchFamily="18" charset="2"/>
              <a:buNone/>
            </a:pPr>
            <a:endParaRPr lang="en-US" altLang="en-US" b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>
              <a:buFont typeface="Symbol" panose="05050102010706020507" pitchFamily="18" charset="2"/>
              <a:buNone/>
            </a:pPr>
            <a:r>
              <a:rPr lang="en-US" altLang="en-US" b="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li.insert(2, ‘i’)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en-US" b="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li</a:t>
            </a:r>
          </a:p>
          <a:p>
            <a:pPr>
              <a:buFont typeface="Symbol" panose="05050102010706020507" pitchFamily="18" charset="2"/>
              <a:buNone/>
            </a:pPr>
            <a:r>
              <a:rPr lang="en-US" altLang="en-US" b="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[1, 11, ‘i’, 3, 4, 5, ‘a’]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>
            <a:extLst>
              <a:ext uri="{FF2B5EF4-FFF2-40B4-BE49-F238E27FC236}">
                <a16:creationId xmlns:a16="http://schemas.microsoft.com/office/drawing/2014/main" id="{7EB1E8CA-0723-BF44-2301-09FC1CCA52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The </a:t>
            </a:r>
            <a:r>
              <a:rPr lang="en-US" altLang="en-US" i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extend</a:t>
            </a:r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method vs  </a:t>
            </a:r>
            <a:r>
              <a:rPr lang="en-US" altLang="en-US" i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231427" name="Rectangle 3">
            <a:extLst>
              <a:ext uri="{FF2B5EF4-FFF2-40B4-BE49-F238E27FC236}">
                <a16:creationId xmlns:a16="http://schemas.microsoft.com/office/drawing/2014/main" id="{C541E3F4-7226-F190-394D-4B3FA779F9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236538" indent="-236538">
              <a:tabLst>
                <a:tab pos="6224588" algn="l"/>
              </a:tabLst>
            </a:pPr>
            <a:r>
              <a:rPr lang="en-US" altLang="en-US" i="1" dirty="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+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creates a fresh list with a new memory ref</a:t>
            </a:r>
          </a:p>
          <a:p>
            <a:pPr marL="236538" indent="-236538">
              <a:tabLst>
                <a:tab pos="6224588" algn="l"/>
              </a:tabLst>
            </a:pPr>
            <a:r>
              <a:rPr lang="en-US" altLang="en-US" i="1" dirty="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extend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operates on list li in place.</a:t>
            </a:r>
          </a:p>
          <a:p>
            <a:pPr marL="236538" indent="-236538">
              <a:buNone/>
              <a:tabLst>
                <a:tab pos="6224588" algn="l"/>
              </a:tabLst>
            </a:pPr>
            <a:endParaRPr lang="en-US" altLang="en-US" sz="10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marL="857250" lvl="1" indent="-457200">
              <a:buNone/>
              <a:tabLst>
                <a:tab pos="6224588" algn="l"/>
              </a:tabLst>
            </a:pPr>
            <a:r>
              <a:rPr lang="en-US" altLang="en-US" dirty="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li.extend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([9, 8, 7])           </a:t>
            </a:r>
          </a:p>
          <a:p>
            <a:pPr marL="857250" lvl="1" indent="-457200">
              <a:buNone/>
              <a:tabLst>
                <a:tab pos="6224588" algn="l"/>
              </a:tabLst>
            </a:pPr>
            <a:r>
              <a:rPr lang="en-US" altLang="en-US" dirty="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 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li</a:t>
            </a:r>
          </a:p>
          <a:p>
            <a:pPr marL="857250" lvl="1" indent="-457200">
              <a:buNone/>
              <a:tabLst>
                <a:tab pos="6224588" algn="l"/>
              </a:tabLst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[1, 2, ‘</a:t>
            </a:r>
            <a:r>
              <a:rPr lang="en-US" altLang="en-US" dirty="0" err="1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’, 3, 4, 5, ‘a’, 9, 8, 7]</a:t>
            </a:r>
          </a:p>
          <a:p>
            <a:pPr marL="236538" indent="-236538">
              <a:buNone/>
              <a:tabLst>
                <a:tab pos="6224588" algn="l"/>
              </a:tabLst>
            </a:pPr>
            <a:endParaRPr lang="en-US" altLang="en-US" sz="1000" dirty="0">
              <a:solidFill>
                <a:schemeClr val="accent2"/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marL="236538" indent="-236538">
              <a:tabLst>
                <a:tab pos="6224588" algn="l"/>
              </a:tabLst>
            </a:pPr>
            <a:r>
              <a:rPr lang="en-US" altLang="en-US" i="1" dirty="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Potentially confusing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: </a:t>
            </a:r>
          </a:p>
          <a:p>
            <a:pPr marL="857250" lvl="1" indent="-457200">
              <a:tabLst>
                <a:tab pos="6224588" algn="l"/>
              </a:tabLst>
            </a:pPr>
            <a:r>
              <a:rPr lang="en-US" altLang="en-US" i="1" dirty="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extend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takes a list as an argument. </a:t>
            </a:r>
          </a:p>
          <a:p>
            <a:pPr marL="857250" lvl="1" indent="-457200">
              <a:tabLst>
                <a:tab pos="6224588" algn="l"/>
              </a:tabLst>
            </a:pPr>
            <a:r>
              <a:rPr lang="en-US" altLang="en-US" i="1" dirty="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append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takes a singleton as an argument.</a:t>
            </a:r>
          </a:p>
          <a:p>
            <a:pPr marL="857250" lvl="1" indent="-457200">
              <a:buNone/>
              <a:tabLst>
                <a:tab pos="6224588" algn="l"/>
              </a:tabLst>
            </a:pPr>
            <a:r>
              <a:rPr lang="en-US" altLang="en-US" dirty="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li.append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([10, 11, 12])</a:t>
            </a:r>
          </a:p>
          <a:p>
            <a:pPr marL="857250" lvl="1" indent="-457200">
              <a:buNone/>
              <a:tabLst>
                <a:tab pos="6224588" algn="l"/>
              </a:tabLst>
            </a:pPr>
            <a:r>
              <a:rPr lang="en-US" altLang="en-US" dirty="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li</a:t>
            </a:r>
          </a:p>
          <a:p>
            <a:pPr marL="857250" lvl="1" indent="-457200">
              <a:buNone/>
              <a:tabLst>
                <a:tab pos="6224588" algn="l"/>
              </a:tabLst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[1, 2, ‘</a:t>
            </a:r>
            <a:r>
              <a:rPr lang="en-US" altLang="en-US" dirty="0" err="1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’, 3, 4, 5, ‘a’, 9, 8, 7, [10, 11, 12]]</a:t>
            </a:r>
          </a:p>
          <a:p>
            <a:pPr marL="236538" indent="-236538">
              <a:buNone/>
              <a:tabLst>
                <a:tab pos="6224588" algn="l"/>
              </a:tabLst>
            </a:pPr>
            <a:endParaRPr lang="en-US" altLang="en-US" b="0" dirty="0">
              <a:solidFill>
                <a:schemeClr val="accent2"/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>
            <a:extLst>
              <a:ext uri="{FF2B5EF4-FFF2-40B4-BE49-F238E27FC236}">
                <a16:creationId xmlns:a16="http://schemas.microsoft.com/office/drawing/2014/main" id="{6F6DF43F-AC7E-84EA-2C7B-B6A7C14D3E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Operations on Lists Only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5D11816D-E55C-2FF9-3CB4-C9CD331FD7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295400"/>
            <a:ext cx="8153400" cy="5334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Lists have many methods, including index, count, remove, reverse, sort </a:t>
            </a:r>
          </a:p>
          <a:p>
            <a:pPr marL="0" indent="0">
              <a:buNone/>
            </a:pPr>
            <a:r>
              <a:rPr lang="en-US" altLang="en-US" b="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li = [‘a’, ‘b’, ‘c’, ‘b’]</a:t>
            </a:r>
          </a:p>
          <a:p>
            <a:pPr marL="0" indent="0">
              <a:buNone/>
            </a:pPr>
            <a:r>
              <a:rPr lang="en-US" altLang="en-US" b="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li.index(‘b’)  # index of 1</a:t>
            </a:r>
            <a:r>
              <a:rPr lang="en-US" altLang="en-US" b="0" baseline="30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occurrence</a:t>
            </a:r>
            <a:endParaRPr lang="en-US" altLang="en-US" b="0" baseline="3000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b="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1</a:t>
            </a:r>
          </a:p>
          <a:p>
            <a:pPr marL="0" indent="0">
              <a:buNone/>
            </a:pPr>
            <a:r>
              <a:rPr lang="en-US" altLang="en-US" b="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li.count(‘b’)  # number of occurrences</a:t>
            </a:r>
          </a:p>
          <a:p>
            <a:pPr marL="0" indent="0">
              <a:buNone/>
            </a:pPr>
            <a:r>
              <a:rPr lang="en-US" altLang="en-US" b="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2</a:t>
            </a:r>
            <a:endParaRPr lang="en-US" altLang="en-US" b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b="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li.remove(‘b’) # remove 1</a:t>
            </a:r>
            <a:r>
              <a:rPr lang="en-US" altLang="en-US" b="0" baseline="30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occurrence</a:t>
            </a:r>
          </a:p>
          <a:p>
            <a:pPr marL="0" indent="0">
              <a:buNone/>
            </a:pPr>
            <a:r>
              <a:rPr lang="en-US" altLang="en-US" b="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b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li</a:t>
            </a:r>
          </a:p>
          <a:p>
            <a:pPr marL="0" indent="0">
              <a:buNone/>
            </a:pPr>
            <a:r>
              <a:rPr lang="en-US" altLang="en-US" b="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 [‘a’, ‘c’, ‘b’]</a:t>
            </a:r>
          </a:p>
          <a:p>
            <a:pPr marL="0" indent="0">
              <a:buNone/>
            </a:pPr>
            <a:endParaRPr lang="en-US" altLang="en-US" b="0" baseline="3000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>
            <a:extLst>
              <a:ext uri="{FF2B5EF4-FFF2-40B4-BE49-F238E27FC236}">
                <a16:creationId xmlns:a16="http://schemas.microsoft.com/office/drawing/2014/main" id="{71DC29B9-64BC-AC9E-9B8A-853D491DB1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Operations on Lists Only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530E6D11-A43F-34E6-98F6-6CC3916865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 sz="2000" dirty="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li = [5, 2, 6, 8]</a:t>
            </a: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endParaRPr lang="en-US" altLang="en-US" sz="20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 sz="2000" dirty="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li.reverse</a:t>
            </a:r>
            <a:r>
              <a:rPr lang="en-US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()    # reverse the list </a:t>
            </a:r>
            <a:r>
              <a:rPr lang="en-US" altLang="en-US" sz="2000" i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*in place*</a:t>
            </a: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 sz="2000" dirty="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li</a:t>
            </a: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 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[8, 6, 2, 5]</a:t>
            </a: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endParaRPr lang="en-US" altLang="en-US" sz="20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 sz="2000" dirty="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li.sort</a:t>
            </a:r>
            <a:r>
              <a:rPr lang="en-US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()       # sort the list </a:t>
            </a:r>
            <a:r>
              <a:rPr lang="en-US" altLang="en-US" sz="2000" i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*in place*</a:t>
            </a: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 sz="2000" dirty="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li</a:t>
            </a: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 </a:t>
            </a:r>
            <a:r>
              <a:rPr lang="en-US" altLang="en-US" sz="2000" dirty="0">
                <a:solidFill>
                  <a:schemeClr val="accent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[2, 5, 6, 8]</a:t>
            </a: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endParaRPr lang="en-US" altLang="en-US" sz="2000" dirty="0">
              <a:solidFill>
                <a:schemeClr val="accent2"/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 sz="2000" dirty="0">
                <a:solidFill>
                  <a:srgbClr val="660033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</a:t>
            </a:r>
            <a:r>
              <a:rPr lang="en-US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li.sort</a:t>
            </a:r>
            <a:r>
              <a:rPr lang="en-US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(</a:t>
            </a:r>
            <a:r>
              <a:rPr lang="en-US" altLang="en-US" sz="2000" dirty="0" err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some_function</a:t>
            </a:r>
            <a:r>
              <a:rPr lang="en-US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)  </a:t>
            </a:r>
          </a:p>
          <a:p>
            <a:pPr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   # sort in place using user-defined comparison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029B-55EE-DE7C-533F-186A9D0A0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Tuple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93A2F-502A-E794-406C-C74DD6315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9800" y="1295400"/>
            <a:ext cx="8077200" cy="5334000"/>
          </a:xfrm>
        </p:spPr>
        <p:txBody>
          <a:bodyPr>
            <a:normAutofit lnSpcReduction="10000"/>
          </a:bodyPr>
          <a:lstStyle/>
          <a:p>
            <a:pPr marL="236538" indent="-236538"/>
            <a:r>
              <a:rPr lang="en-US" altLang="en-US" b="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The 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comma</a:t>
            </a:r>
            <a:r>
              <a:rPr lang="en-US" altLang="en-US" b="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is the tuple creation operator, not </a:t>
            </a:r>
            <a:r>
              <a:rPr lang="en-US" altLang="en-US" b="0" dirty="0" err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parens</a:t>
            </a:r>
            <a:endParaRPr lang="en-US" altLang="en-US" b="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lvl="1"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 1,</a:t>
            </a:r>
          </a:p>
          <a:p>
            <a:pPr lvl="1"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(1,)</a:t>
            </a:r>
          </a:p>
          <a:p>
            <a:pPr marL="236538" indent="-236538"/>
            <a:r>
              <a:rPr lang="en-US" altLang="en-US" b="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Python shows </a:t>
            </a:r>
            <a:r>
              <a:rPr lang="en-US" altLang="en-US" b="0" dirty="0" err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parens</a:t>
            </a:r>
            <a:r>
              <a:rPr lang="en-US" altLang="en-US" b="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for clarity (best practice)</a:t>
            </a:r>
            <a:endParaRPr lang="en-US" altLang="en-US" sz="16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lvl="1"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 (1,)</a:t>
            </a:r>
          </a:p>
          <a:p>
            <a:pPr lvl="1"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(1,)</a:t>
            </a:r>
          </a:p>
          <a:p>
            <a:pPr marL="236538" indent="-236538"/>
            <a:r>
              <a:rPr lang="en-US" altLang="en-US" b="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Don't forget the comma!</a:t>
            </a:r>
            <a:endParaRPr lang="en-US" altLang="en-US" sz="16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lvl="1"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 (1)</a:t>
            </a:r>
          </a:p>
          <a:p>
            <a:pPr lvl="1"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1</a:t>
            </a:r>
          </a:p>
          <a:p>
            <a:pPr marL="236538" indent="-236538"/>
            <a:r>
              <a:rPr lang="en-US" altLang="en-US" b="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Trailing comma only required for singletons others</a:t>
            </a:r>
          </a:p>
          <a:p>
            <a:pPr marL="236538" indent="-236538"/>
            <a:r>
              <a:rPr lang="en-US" altLang="en-US" b="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Empty tuples have a special syntactic form</a:t>
            </a:r>
            <a:endParaRPr lang="en-US" altLang="en-US" sz="16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lvl="1"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 ()</a:t>
            </a:r>
          </a:p>
          <a:p>
            <a:pPr lvl="1"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()</a:t>
            </a:r>
          </a:p>
          <a:p>
            <a:pPr lvl="1"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&gt;&gt;&gt; tuple()</a:t>
            </a:r>
          </a:p>
          <a:p>
            <a:pPr lvl="1"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()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FAB67-8405-6009-CF2C-AC2D07EBA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+ SQL Integration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33720-20E4-7BDD-64E5-E916DA81B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(Structured Query Language)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standardized programming language specifically designed for managing and manipulating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interact with databases to perform various operations, such as querying data, updating records, creating and modifying database structures, and controlling access to data.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0829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What is a Database Schema?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 schema defines the structure of a database, including tables, fields, data types, and relationships.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Database Schemas in Python SQL Libraries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Database Schema?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blueprint or architecture of how the database is structured. It defines: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Fields (columns)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(e.g., one-to-many)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Indexes and constraints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6541D-2EAC-E482-732C-674E27945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Features of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13B6B-66AE-45F9-B47A-DDCDE6EC0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Definition (DDL)Commands: CREATE, ALTER, DROP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employees (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id INT PRIMARY KEY,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name VARCHAR(100),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age INT,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department VARCHAR(50)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Querying: Use the SELECT statement to retrieve data from one or more tables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name, age FROM employees WHERE department = 'Sales’;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Manipulation (DML)Commands: INSERT, UPDATE, DELETE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 employees (name, age, department) VALUES ('Alice', 30, 'HR’);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8444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59ECB-FD6C-7802-A7F8-FDEF04430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Control Language (DCL)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D1B304-90B5-F527-A0BD-CC75E303E2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54579"/>
            <a:ext cx="10582769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DCL commands manage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 permissions and security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the database objects.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GRANT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Assigns specific privileges to users or roles.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GRANT SELECT, INSERT ON employees TO john;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gives user john permission to perform SELECT and INSERT operations on the employees 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REVOKE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Removes previously granted privileges.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REVOKE INSERT ON employees FROM john;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removes the INSERT privilege on the employees table from user john.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7231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Users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3809" y="953037"/>
            <a:ext cx="4036333" cy="17098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Purpose: Stores user details such as name, age, gender, and nationality.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B13670-835B-2486-C661-4E63EDCB8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1863383"/>
            <a:ext cx="5536001" cy="307248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Users Table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 (PK), name (TEXT), age (INTEGER), gender (TEXT), nationality (TEXT)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AB320A-B08E-B33D-82AB-A11F8FCBB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810" y="3024131"/>
            <a:ext cx="7192379" cy="809738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IN" sz="4100">
                <a:solidFill>
                  <a:srgbClr val="FFFFFF"/>
                </a:solidFill>
              </a:rPr>
              <a:t>Users Table - SQLAlchemy Model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DBBDF5A-CB89-EF15-AC69-B447770F9D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8511491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IN" sz="4100">
                <a:solidFill>
                  <a:srgbClr val="FFFFFF"/>
                </a:solidFill>
              </a:rPr>
              <a:t>Posts Table - SQLAlchemy Model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2D7D9F-CA59-249A-3451-85F281C445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1714958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IN" sz="4100">
                <a:solidFill>
                  <a:srgbClr val="FFFFFF"/>
                </a:solidFill>
              </a:rPr>
              <a:t>Comments Table - SQLAlchemy Model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95B75E-9223-7805-0EE5-E8AAF695BD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9059067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EB32B-C579-2D0A-D1C4-121DE42DC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9D7E1-6AA8-B83E-397D-CE3C2C469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64549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459031-E7EE-25EE-ED46-79633223F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031" y="1380754"/>
            <a:ext cx="5561938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7073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BD960-7C70-836B-2F99-D90960952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189DF37-2A5B-C1A4-25F6-1D49741FE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3500" y="2905919"/>
            <a:ext cx="1905000" cy="2190750"/>
          </a:xfrm>
        </p:spPr>
      </p:pic>
    </p:spTree>
    <p:extLst>
      <p:ext uri="{BB962C8B-B14F-4D97-AF65-F5344CB8AC3E}">
        <p14:creationId xmlns:p14="http://schemas.microsoft.com/office/powerpoint/2010/main" val="2354446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849C72F-A370-44C6-8641-1FF004963456}">
  <we:reference id="wa200003220" version="1.0.0.0" store="en-US" storeType="OMEX"/>
  <we:alternateReferences>
    <we:reference id="wa200003220" version="1.0.0.0" store="wa20000322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5791</Words>
  <Application>Microsoft Office PowerPoint</Application>
  <PresentationFormat>Widescreen</PresentationFormat>
  <Paragraphs>762</Paragraphs>
  <Slides>73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85" baseType="lpstr">
      <vt:lpstr>ＭＳ Ｐゴシック</vt:lpstr>
      <vt:lpstr>Aptos</vt:lpstr>
      <vt:lpstr>Aptos Display</vt:lpstr>
      <vt:lpstr>Arial</vt:lpstr>
      <vt:lpstr>Calibri</vt:lpstr>
      <vt:lpstr>Courier New</vt:lpstr>
      <vt:lpstr>Lucida Sans Typewriter</vt:lpstr>
      <vt:lpstr>Open Sans</vt:lpstr>
      <vt:lpstr>Symbol</vt:lpstr>
      <vt:lpstr>Times New Roman</vt:lpstr>
      <vt:lpstr>Wingdings</vt:lpstr>
      <vt:lpstr>Office Theme</vt:lpstr>
      <vt:lpstr>Integrating Python with SQL</vt:lpstr>
      <vt:lpstr>Session Agenda</vt:lpstr>
      <vt:lpstr>Python File Handling: Reading/Writing CSV using csv and pandas</vt:lpstr>
      <vt:lpstr>Brief History of Python</vt:lpstr>
      <vt:lpstr>Python’s Benevolent Dictator For Life</vt:lpstr>
      <vt:lpstr>Introduction to Python and IDEs (PyCharm, Jupyter)</vt:lpstr>
      <vt:lpstr>ONLINE Python compilers</vt:lpstr>
      <vt:lpstr>Let’s Explore</vt:lpstr>
      <vt:lpstr>MIND-MAP</vt:lpstr>
      <vt:lpstr>PowerPoint Presentation</vt:lpstr>
      <vt:lpstr>PowerPoint Presentation</vt:lpstr>
      <vt:lpstr>Bitwise Operators in Python</vt:lpstr>
      <vt:lpstr>Bit Allocation Table</vt:lpstr>
      <vt:lpstr>Control Structures in Python</vt:lpstr>
      <vt:lpstr>What is Python?</vt:lpstr>
      <vt:lpstr>Variables, Objects, and Classes  </vt:lpstr>
      <vt:lpstr>Variables, Objects, and Classes (cont.) </vt:lpstr>
      <vt:lpstr>Basic Syntax Rules  </vt:lpstr>
      <vt:lpstr>Basic Syntax Rules  </vt:lpstr>
      <vt:lpstr>Basic Syntax Rules (cont.)</vt:lpstr>
      <vt:lpstr>Common Data Types and Operators</vt:lpstr>
      <vt:lpstr>Input/Output</vt:lpstr>
      <vt:lpstr>If-else Statements</vt:lpstr>
      <vt:lpstr>For Loops</vt:lpstr>
      <vt:lpstr>While Loops</vt:lpstr>
      <vt:lpstr>The Python Interpreter</vt:lpstr>
      <vt:lpstr>Installing</vt:lpstr>
      <vt:lpstr>IDLE Development Environment</vt:lpstr>
      <vt:lpstr>Python Scripts</vt:lpstr>
      <vt:lpstr>The Basics</vt:lpstr>
      <vt:lpstr>A Code Sample (in IDLE)</vt:lpstr>
      <vt:lpstr>Enough to Understand the Code</vt:lpstr>
      <vt:lpstr>Basic Datatypes</vt:lpstr>
      <vt:lpstr>Whitespace</vt:lpstr>
      <vt:lpstr>Comments</vt:lpstr>
      <vt:lpstr>Assignment</vt:lpstr>
      <vt:lpstr>Naming Rules</vt:lpstr>
      <vt:lpstr>PowerPoint Presentation</vt:lpstr>
      <vt:lpstr>PowerPoint Presentation</vt:lpstr>
      <vt:lpstr>Assignment</vt:lpstr>
      <vt:lpstr>Sequence types: Tuples, Lists, and Strings</vt:lpstr>
      <vt:lpstr>Sequence Types</vt:lpstr>
      <vt:lpstr>Similar Syntax</vt:lpstr>
      <vt:lpstr>Sequence Types 1</vt:lpstr>
      <vt:lpstr>Sequence Types 2</vt:lpstr>
      <vt:lpstr>Positive and negative indices</vt:lpstr>
      <vt:lpstr>Slicing: return copy of a subset</vt:lpstr>
      <vt:lpstr>Slicing: return copy of a =subset</vt:lpstr>
      <vt:lpstr>Copying the Whole Sequence</vt:lpstr>
      <vt:lpstr>The ‘in’ Operator</vt:lpstr>
      <vt:lpstr>The + Operator</vt:lpstr>
      <vt:lpstr>The * Operator</vt:lpstr>
      <vt:lpstr>Mutability: Tuples vs. Lists</vt:lpstr>
      <vt:lpstr>Lists are mutable</vt:lpstr>
      <vt:lpstr>Tuples are immutable</vt:lpstr>
      <vt:lpstr>Operations on Lists Only </vt:lpstr>
      <vt:lpstr>The extend method vs  +  </vt:lpstr>
      <vt:lpstr>Operations on Lists Only</vt:lpstr>
      <vt:lpstr>Operations on Lists Only</vt:lpstr>
      <vt:lpstr>Tuple details</vt:lpstr>
      <vt:lpstr>Python + SQL Integration </vt:lpstr>
      <vt:lpstr>What is a Database Schema?</vt:lpstr>
      <vt:lpstr>Understanding Database Schemas in Python SQL Libraries</vt:lpstr>
      <vt:lpstr>Core Features of SQL</vt:lpstr>
      <vt:lpstr>Data Control Language (DCL)</vt:lpstr>
      <vt:lpstr>Users Table</vt:lpstr>
      <vt:lpstr>Users Table Fields</vt:lpstr>
      <vt:lpstr>Users Table - SQLAlchemy Model</vt:lpstr>
      <vt:lpstr>Posts Table - SQLAlchemy Model</vt:lpstr>
      <vt:lpstr>Comments Table - SQLAlchemy Model</vt:lpstr>
      <vt:lpstr>PowerPoint Presentation</vt:lpstr>
      <vt:lpstr>THANK YOU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 S</dc:creator>
  <cp:lastModifiedBy>Vishnu S</cp:lastModifiedBy>
  <cp:revision>22</cp:revision>
  <dcterms:created xsi:type="dcterms:W3CDTF">2025-04-24T04:25:11Z</dcterms:created>
  <dcterms:modified xsi:type="dcterms:W3CDTF">2025-05-03T03:56:42Z</dcterms:modified>
</cp:coreProperties>
</file>